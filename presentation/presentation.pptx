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60" r:id="rId7"/>
    <p:sldId id="262" r:id="rId8"/>
    <p:sldId id="263" r:id="rId9"/>
    <p:sldId id="264" r:id="rId10"/>
    <p:sldId id="261" r:id="rId11"/>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Today I compare Sainsbury's and Tesco using three views: overall prices, common category averages, and value for money.
The goal is not to prove one supermarket is always cheaper, but to identify where each one performs better.
I will finish with practical findings for shoppers and for supermarket category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chart compares mean, median, minimum, maximum and standard deviation.
The mean and median are close, so we should not say one supermarket is much cheaper overall.
However, Sainsbury's has the higher maximum price, which may reflect more premium or larger products.
This motivates the next step: compare common categories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only uses the ten categories found in both supermarkets.
Sainsbury's is slightly cheaper in baby products, bakery, frozen, and pets.
Tesco is cheaper in six categories, especially household products, where the gap is large.
For customers, the cheapest supermarket depends strongly on what they buy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bubble chart combines two dimensions: price on the x-axis and number of products on the y-axis.
The value index is number of products divided by average price. Higher means more variety for each pound of average price.
The best area is low price and high variety; the weakest area is high price and low variety.
This gives a more practical view than price alone because shoppers also care about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presentation clearly: Overall prices are quite close.
Tesco is cheaper in more common categories, especially household products.
But price is not the whole story: value also depends on variety, which is why the value index is useful.
A good extension would be to build example baskets and compare final basket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411480" y="6473952"/>
            <a:ext cx="11384280" cy="0"/>
          </a:xfrm>
          <a:prstGeom prst="line">
            <a:avLst/>
          </a:prstGeom>
          <a:noFill/>
          <a:ln w="6350">
            <a:solidFill>
              <a:srgbClr val="CBD5E1"/>
            </a:solidFill>
            <a:prstDash val="solid"/>
          </a:ln>
        </p:spPr>
      </p:sp>
      <p:sp>
        <p:nvSpPr>
          <p:cNvPr id="3" name="Text 1"/>
          <p:cNvSpPr/>
          <p:nvPr/>
        </p:nvSpPr>
        <p:spPr>
          <a:xfrm>
            <a:off x="502920" y="6528816"/>
            <a:ext cx="6858000" cy="201168"/>
          </a:xfrm>
          <a:prstGeom prst="rect">
            <a:avLst/>
          </a:prstGeom>
          <a:noFill/>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Sainsbury's vs Tesco | Price &amp; Value Analysis</a:t>
            </a:r>
            <a:endParaRPr lang="en-US" sz="750" dirty="0"/>
          </a:p>
        </p:txBody>
      </p:sp>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notesSlide" Target="../notesSlides/notesSlide2.xml"/><Relationship Id="rId11" Type="http://schemas.openxmlformats.org/officeDocument/2006/relationships/slideLayout" Target="../slideLayouts/slideLayout2.xml"/><Relationship Id="rId10" Type="http://schemas.openxmlformats.org/officeDocument/2006/relationships/tags" Target="../tags/tag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5" Type="http://schemas.openxmlformats.org/officeDocument/2006/relationships/notesSlide" Target="../notesSlides/notesSlide4.xml"/><Relationship Id="rId14" Type="http://schemas.openxmlformats.org/officeDocument/2006/relationships/slideLayout" Target="../slideLayouts/slideLayout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4" Type="http://schemas.openxmlformats.org/officeDocument/2006/relationships/notesSlide" Target="../notesSlides/notesSlide5.xml"/><Relationship Id="rId13" Type="http://schemas.openxmlformats.org/officeDocument/2006/relationships/slideLayout" Target="../slideLayouts/slideLayout2.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658368" y="713232"/>
            <a:ext cx="8138160" cy="566928"/>
          </a:xfrm>
          <a:prstGeom prst="rect">
            <a:avLst/>
          </a:prstGeom>
          <a:noFill/>
        </p:spPr>
        <p:txBody>
          <a:bodyPr wrap="square" lIns="0" tIns="0" rIns="0" bIns="0" rtlCol="0" anchor="ctr"/>
          <a:lstStyle/>
          <a:p>
            <a:pPr marL="0" indent="0">
              <a:buNone/>
            </a:pPr>
            <a:r>
              <a:rPr lang="en-US" sz="4000" b="1" dirty="0">
                <a:solidFill>
                  <a:srgbClr val="0F172A"/>
                </a:solidFill>
                <a:latin typeface="Aptos Display" pitchFamily="34" charset="0"/>
                <a:ea typeface="Aptos Display" pitchFamily="34" charset="-122"/>
                <a:cs typeface="Aptos Display" pitchFamily="34" charset="-120"/>
              </a:rPr>
              <a:t>Sainsbury's vs Tesco</a:t>
            </a:r>
            <a:endParaRPr lang="en-US" sz="4000" b="1" dirty="0">
              <a:solidFill>
                <a:srgbClr val="0F172A"/>
              </a:solidFill>
              <a:latin typeface="Aptos Display" pitchFamily="34" charset="0"/>
              <a:ea typeface="Aptos Display" pitchFamily="34" charset="-122"/>
              <a:cs typeface="Aptos Display" pitchFamily="34" charset="-120"/>
            </a:endParaRPr>
          </a:p>
        </p:txBody>
      </p:sp>
      <p:sp>
        <p:nvSpPr>
          <p:cNvPr id="3" name="Text 1"/>
          <p:cNvSpPr/>
          <p:nvPr/>
        </p:nvSpPr>
        <p:spPr>
          <a:xfrm>
            <a:off x="686435" y="1689735"/>
            <a:ext cx="7680960" cy="347472"/>
          </a:xfrm>
          <a:prstGeom prst="rect">
            <a:avLst/>
          </a:prstGeom>
          <a:noFill/>
        </p:spPr>
        <p:txBody>
          <a:bodyPr wrap="square" lIns="0" tIns="0" rIns="0" bIns="0" rtlCol="0" anchor="ctr"/>
          <a:lstStyle/>
          <a:p>
            <a:pPr marL="0" indent="0">
              <a:buNone/>
            </a:pPr>
            <a:r>
              <a:rPr lang="en-US" sz="2200" dirty="0">
                <a:solidFill>
                  <a:srgbClr val="475569"/>
                </a:solidFill>
              </a:rPr>
              <a:t>Price and value-for-money comparison</a:t>
            </a:r>
            <a:endParaRPr lang="en-US" sz="2200" dirty="0"/>
          </a:p>
        </p:txBody>
      </p:sp>
      <p:sp>
        <p:nvSpPr>
          <p:cNvPr id="5" name="Shape 3"/>
          <p:cNvSpPr/>
          <p:nvPr/>
        </p:nvSpPr>
        <p:spPr>
          <a:xfrm>
            <a:off x="6396355" y="605790"/>
            <a:ext cx="4759325" cy="3236595"/>
          </a:xfrm>
          <a:prstGeom prst="roundRect">
            <a:avLst>
              <a:gd name="adj" fmla="val 5176"/>
            </a:avLst>
          </a:prstGeom>
          <a:solidFill>
            <a:srgbClr val="FFFFFF"/>
          </a:solidFill>
          <a:ln w="12700">
            <a:solidFill>
              <a:srgbClr val="E2E8F0"/>
            </a:solidFill>
            <a:prstDash val="solid"/>
          </a:ln>
        </p:spPr>
      </p:sp>
      <p:sp>
        <p:nvSpPr>
          <p:cNvPr id="6" name="Text 4"/>
          <p:cNvSpPr/>
          <p:nvPr/>
        </p:nvSpPr>
        <p:spPr>
          <a:xfrm>
            <a:off x="7882128" y="978408"/>
            <a:ext cx="3017520" cy="256032"/>
          </a:xfrm>
          <a:prstGeom prst="rect">
            <a:avLst/>
          </a:prstGeom>
          <a:noFill/>
        </p:spPr>
        <p:txBody>
          <a:bodyPr wrap="square" lIns="0" tIns="0" rIns="0" bIns="0" rtlCol="0" anchor="ctr"/>
          <a:lstStyle/>
          <a:p>
            <a:pPr marL="0" indent="0" algn="ctr">
              <a:buNone/>
            </a:pPr>
            <a:endParaRPr lang="en-US" sz="1600" dirty="0"/>
          </a:p>
        </p:txBody>
      </p:sp>
      <p:sp>
        <p:nvSpPr>
          <p:cNvPr id="7" name="Text 5"/>
          <p:cNvSpPr/>
          <p:nvPr/>
        </p:nvSpPr>
        <p:spPr>
          <a:xfrm>
            <a:off x="6754495" y="1417320"/>
            <a:ext cx="4042410" cy="777240"/>
          </a:xfrm>
          <a:prstGeom prst="rect">
            <a:avLst/>
          </a:prstGeom>
          <a:noFill/>
        </p:spPr>
        <p:txBody>
          <a:bodyPr wrap="square" lIns="254" tIns="254" rIns="254" bIns="254" rtlCol="0" anchor="ctr">
            <a:noAutofit/>
          </a:bodyPr>
          <a:lstStyle/>
          <a:p>
            <a:pPr marL="0" indent="0" algn="ctr">
              <a:buNone/>
            </a:pPr>
            <a:r>
              <a:rPr lang="en-US" sz="2400" b="1" dirty="0">
                <a:solidFill>
                  <a:srgbClr val="2563EB"/>
                </a:solidFill>
              </a:rPr>
              <a:t>Which supermarket offers better value across common product categories?</a:t>
            </a:r>
            <a:endParaRPr lang="en-US" sz="2400" b="1" dirty="0">
              <a:solidFill>
                <a:srgbClr val="2563EB"/>
              </a:solidFill>
            </a:endParaRPr>
          </a:p>
        </p:txBody>
      </p:sp>
      <p:sp>
        <p:nvSpPr>
          <p:cNvPr id="8" name="Text 6"/>
          <p:cNvSpPr/>
          <p:nvPr/>
        </p:nvSpPr>
        <p:spPr>
          <a:xfrm>
            <a:off x="6967220" y="2614295"/>
            <a:ext cx="3763645" cy="658495"/>
          </a:xfrm>
          <a:prstGeom prst="rect">
            <a:avLst/>
          </a:prstGeom>
          <a:noFill/>
        </p:spPr>
        <p:txBody>
          <a:bodyPr wrap="square" lIns="0" tIns="0" rIns="0" bIns="0" rtlCol="0" anchor="ctr">
            <a:noAutofit/>
          </a:bodyPr>
          <a:lstStyle/>
          <a:p>
            <a:pPr marL="0" indent="0" algn="ctr">
              <a:buNone/>
            </a:pPr>
            <a:r>
              <a:rPr lang="en-US" sz="1900" dirty="0">
                <a:solidFill>
                  <a:srgbClr val="475569"/>
                </a:solidFill>
              </a:rPr>
              <a:t>We compare overall prices, average category prices, and a simple value index.</a:t>
            </a:r>
            <a:endParaRPr lang="en-US" sz="1900" dirty="0">
              <a:solidFill>
                <a:srgbClr val="475569"/>
              </a:solidFill>
            </a:endParaRPr>
          </a:p>
        </p:txBody>
      </p:sp>
      <p:sp>
        <p:nvSpPr>
          <p:cNvPr id="10" name="Text 8"/>
          <p:cNvSpPr/>
          <p:nvPr/>
        </p:nvSpPr>
        <p:spPr>
          <a:xfrm>
            <a:off x="6967474" y="3538855"/>
            <a:ext cx="749808" cy="146304"/>
          </a:xfrm>
          <a:prstGeom prst="rect">
            <a:avLst/>
          </a:prstGeom>
          <a:noFill/>
        </p:spPr>
        <p:txBody>
          <a:bodyPr wrap="square" lIns="0" tIns="0" rIns="0" bIns="0" rtlCol="0" anchor="ctr"/>
          <a:lstStyle/>
          <a:p>
            <a:pPr marL="0" indent="0" algn="ctr">
              <a:buNone/>
            </a:pPr>
            <a:endParaRPr lang="en-US" sz="880" dirty="0"/>
          </a:p>
        </p:txBody>
      </p:sp>
      <p:sp>
        <p:nvSpPr>
          <p:cNvPr id="15" name="Text 13"/>
          <p:cNvSpPr/>
          <p:nvPr/>
        </p:nvSpPr>
        <p:spPr>
          <a:xfrm>
            <a:off x="685800" y="5376672"/>
            <a:ext cx="9052560" cy="320040"/>
          </a:xfrm>
          <a:prstGeom prst="rect">
            <a:avLst/>
          </a:prstGeom>
          <a:noFill/>
        </p:spPr>
        <p:txBody>
          <a:bodyPr wrap="square" lIns="0" tIns="0" rIns="0" bIns="0" rtlCol="0" anchor="ctr"/>
          <a:lstStyle/>
          <a:p>
            <a:pPr marL="0" indent="0">
              <a:buNone/>
            </a:pPr>
            <a:endParaRPr lang="en-US" sz="1320" dirty="0"/>
          </a:p>
        </p:txBody>
      </p:sp>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
        <p:nvSpPr>
          <p:cNvPr id="16" name="文本框 15"/>
          <p:cNvSpPr txBox="1"/>
          <p:nvPr/>
        </p:nvSpPr>
        <p:spPr>
          <a:xfrm>
            <a:off x="658495" y="2818765"/>
            <a:ext cx="6096000" cy="922020"/>
          </a:xfrm>
          <a:prstGeom prst="rect">
            <a:avLst/>
          </a:prstGeom>
          <a:noFill/>
        </p:spPr>
        <p:txBody>
          <a:bodyPr wrap="square" rtlCol="0" anchor="t">
            <a:spAutoFit/>
          </a:bodyPr>
          <a:p>
            <a:r>
              <a:rPr lang="en-US" altLang="zh-CN"/>
              <a:t>Group Member: Xurui Wang</a:t>
            </a:r>
            <a:endParaRPr lang="en-US" altLang="zh-CN"/>
          </a:p>
          <a:p>
            <a:r>
              <a:rPr lang="en-US" altLang="zh-CN"/>
              <a:t>                           Xuanya Pei</a:t>
            </a:r>
            <a:endParaRPr lang="en-US" altLang="zh-CN"/>
          </a:p>
          <a:p>
            <a:r>
              <a:rPr lang="en-US" altLang="zh-CN"/>
              <a:t>                           Chu Zhang</a:t>
            </a:r>
            <a:endParaRPr lang="zh-CN" altLang="en-US"/>
          </a:p>
        </p:txBody>
      </p:sp>
      <p:sp>
        <p:nvSpPr>
          <p:cNvPr id="17" name="文本框 16"/>
          <p:cNvSpPr txBox="1"/>
          <p:nvPr/>
        </p:nvSpPr>
        <p:spPr>
          <a:xfrm>
            <a:off x="678180" y="5601335"/>
            <a:ext cx="8168640" cy="368300"/>
          </a:xfrm>
          <a:prstGeom prst="rect">
            <a:avLst/>
          </a:prstGeom>
          <a:noFill/>
        </p:spPr>
        <p:txBody>
          <a:bodyPr wrap="square" rtlCol="0">
            <a:spAutoFit/>
          </a:bodyPr>
          <a:p>
            <a:r>
              <a:rPr lang="en-US" altLang="zh-CN" b="1"/>
              <a:t>Data Source: Time Series UK Supermarket Data, Kaggle.</a:t>
            </a:r>
            <a:endParaRPr lang="en-US" altLang="zh-CN"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7955280" cy="411480"/>
          </a:xfrm>
          <a:prstGeom prst="rect">
            <a:avLst/>
          </a:prstGeom>
          <a:noFill/>
        </p:spPr>
        <p:txBody>
          <a:bodyPr wrap="square" lIns="0" tIns="0" rIns="0" bIns="0"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1. Overall price statistics</a:t>
            </a:r>
            <a:endParaRPr lang="en-US" sz="2600" dirty="0"/>
          </a:p>
        </p:txBody>
      </p:sp>
      <p:pic>
        <p:nvPicPr>
          <p:cNvPr id="4" name="Image 0" descr="/mnt/data/cc0ed50665c4873d1db5310fc6c9f77a.png"/>
          <p:cNvPicPr>
            <a:picLocks noChangeAspect="1"/>
          </p:cNvPicPr>
          <p:nvPr/>
        </p:nvPicPr>
        <p:blipFill>
          <a:blip r:embed="rId1"/>
          <a:stretch>
            <a:fillRect/>
          </a:stretch>
        </p:blipFill>
        <p:spPr>
          <a:xfrm>
            <a:off x="354965" y="1197610"/>
            <a:ext cx="8039100" cy="3982085"/>
          </a:xfrm>
          <a:prstGeom prst="rect">
            <a:avLst/>
          </a:prstGeom>
        </p:spPr>
      </p:pic>
      <p:sp>
        <p:nvSpPr>
          <p:cNvPr id="5" name="Shape 2"/>
          <p:cNvSpPr/>
          <p:nvPr>
            <p:custDataLst>
              <p:tags r:id="rId2"/>
            </p:custDataLst>
          </p:nvPr>
        </p:nvSpPr>
        <p:spPr>
          <a:xfrm>
            <a:off x="8613648" y="1207008"/>
            <a:ext cx="2926080" cy="1024128"/>
          </a:xfrm>
          <a:prstGeom prst="roundRect">
            <a:avLst>
              <a:gd name="adj" fmla="val 10714"/>
            </a:avLst>
          </a:prstGeom>
          <a:solidFill>
            <a:srgbClr val="EFF6FF"/>
          </a:solidFill>
          <a:ln w="12700">
            <a:solidFill>
              <a:srgbClr val="E2E8F0">
                <a:alpha val="75000"/>
              </a:srgbClr>
            </a:solidFill>
            <a:prstDash val="solid"/>
          </a:ln>
        </p:spPr>
      </p:sp>
      <p:sp>
        <p:nvSpPr>
          <p:cNvPr id="6" name="Shape 3"/>
          <p:cNvSpPr/>
          <p:nvPr>
            <p:custDataLst>
              <p:tags r:id="rId3"/>
            </p:custDataLst>
          </p:nvPr>
        </p:nvSpPr>
        <p:spPr>
          <a:xfrm>
            <a:off x="8613648" y="1207008"/>
            <a:ext cx="91440" cy="1024128"/>
          </a:xfrm>
          <a:prstGeom prst="rect">
            <a:avLst/>
          </a:prstGeom>
          <a:solidFill>
            <a:srgbClr val="2563EB"/>
          </a:solidFill>
          <a:ln w="12700">
            <a:solidFill>
              <a:srgbClr val="2563EB"/>
            </a:solidFill>
            <a:prstDash val="solid"/>
          </a:ln>
        </p:spPr>
      </p:sp>
      <p:sp>
        <p:nvSpPr>
          <p:cNvPr id="8" name="Text 5"/>
          <p:cNvSpPr/>
          <p:nvPr>
            <p:custDataLst>
              <p:tags r:id="rId4"/>
            </p:custDataLst>
          </p:nvPr>
        </p:nvSpPr>
        <p:spPr>
          <a:xfrm>
            <a:off x="8825992" y="1204976"/>
            <a:ext cx="2542032" cy="438912"/>
          </a:xfrm>
          <a:prstGeom prst="rect">
            <a:avLst/>
          </a:prstGeom>
          <a:noFill/>
        </p:spPr>
        <p:txBody>
          <a:bodyPr wrap="square" lIns="0" tIns="0" rIns="0" bIns="0" rtlCol="0" anchor="t">
            <a:noAutofit/>
          </a:bodyPr>
          <a:lstStyle/>
          <a:p>
            <a:pPr marL="0" indent="0">
              <a:buNone/>
            </a:pPr>
            <a:r>
              <a:rPr lang="en-US" sz="1600" dirty="0">
                <a:solidFill>
                  <a:srgbClr val="475569"/>
                </a:solidFill>
              </a:rPr>
              <a:t>Both supermarkets have similar mean and median prices, so the typical basket price level is close.</a:t>
            </a:r>
            <a:endParaRPr lang="en-US" sz="1600" dirty="0">
              <a:solidFill>
                <a:srgbClr val="475569"/>
              </a:solidFill>
            </a:endParaRPr>
          </a:p>
        </p:txBody>
      </p:sp>
      <p:sp>
        <p:nvSpPr>
          <p:cNvPr id="9" name="Shape 6"/>
          <p:cNvSpPr/>
          <p:nvPr>
            <p:custDataLst>
              <p:tags r:id="rId5"/>
            </p:custDataLst>
          </p:nvPr>
        </p:nvSpPr>
        <p:spPr>
          <a:xfrm>
            <a:off x="8613648" y="2523744"/>
            <a:ext cx="2926080" cy="1024128"/>
          </a:xfrm>
          <a:prstGeom prst="roundRect">
            <a:avLst>
              <a:gd name="adj" fmla="val 10714"/>
            </a:avLst>
          </a:prstGeom>
          <a:solidFill>
            <a:srgbClr val="FEF2F2"/>
          </a:solidFill>
          <a:ln w="12700">
            <a:solidFill>
              <a:srgbClr val="E2E8F0">
                <a:alpha val="75000"/>
              </a:srgbClr>
            </a:solidFill>
            <a:prstDash val="solid"/>
          </a:ln>
        </p:spPr>
      </p:sp>
      <p:sp>
        <p:nvSpPr>
          <p:cNvPr id="10" name="Shape 7"/>
          <p:cNvSpPr/>
          <p:nvPr>
            <p:custDataLst>
              <p:tags r:id="rId6"/>
            </p:custDataLst>
          </p:nvPr>
        </p:nvSpPr>
        <p:spPr>
          <a:xfrm>
            <a:off x="8613648" y="2523744"/>
            <a:ext cx="91440" cy="1024128"/>
          </a:xfrm>
          <a:prstGeom prst="rect">
            <a:avLst/>
          </a:prstGeom>
          <a:solidFill>
            <a:srgbClr val="DC2626"/>
          </a:solidFill>
          <a:ln w="12700">
            <a:solidFill>
              <a:srgbClr val="DC2626"/>
            </a:solidFill>
            <a:prstDash val="solid"/>
          </a:ln>
        </p:spPr>
      </p:sp>
      <p:sp>
        <p:nvSpPr>
          <p:cNvPr id="12" name="Text 9"/>
          <p:cNvSpPr/>
          <p:nvPr>
            <p:custDataLst>
              <p:tags r:id="rId7"/>
            </p:custDataLst>
          </p:nvPr>
        </p:nvSpPr>
        <p:spPr>
          <a:xfrm>
            <a:off x="8845042" y="2555367"/>
            <a:ext cx="2542032" cy="438912"/>
          </a:xfrm>
          <a:prstGeom prst="rect">
            <a:avLst/>
          </a:prstGeom>
          <a:noFill/>
        </p:spPr>
        <p:txBody>
          <a:bodyPr wrap="square" lIns="0" tIns="0" rIns="0" bIns="0" rtlCol="0" anchor="t">
            <a:noAutofit/>
          </a:bodyPr>
          <a:lstStyle/>
          <a:p>
            <a:pPr marL="0" indent="0">
              <a:buNone/>
            </a:pPr>
            <a:r>
              <a:rPr lang="en-US" sz="1500" dirty="0">
                <a:solidFill>
                  <a:srgbClr val="475569"/>
                </a:solidFill>
              </a:rPr>
              <a:t>Sainsbury's has a higher maximum price, suggesting more expensive premium or large-size items.</a:t>
            </a:r>
            <a:endParaRPr lang="en-US" sz="1500" dirty="0">
              <a:solidFill>
                <a:srgbClr val="475569"/>
              </a:solidFill>
            </a:endParaRPr>
          </a:p>
        </p:txBody>
      </p:sp>
      <p:sp>
        <p:nvSpPr>
          <p:cNvPr id="13" name="Shape 10"/>
          <p:cNvSpPr/>
          <p:nvPr>
            <p:custDataLst>
              <p:tags r:id="rId8"/>
            </p:custDataLst>
          </p:nvPr>
        </p:nvSpPr>
        <p:spPr>
          <a:xfrm>
            <a:off x="8613648" y="3840480"/>
            <a:ext cx="2926080" cy="1024128"/>
          </a:xfrm>
          <a:prstGeom prst="roundRect">
            <a:avLst>
              <a:gd name="adj" fmla="val 10714"/>
            </a:avLst>
          </a:prstGeom>
          <a:solidFill>
            <a:srgbClr val="F0FDF4"/>
          </a:solidFill>
          <a:ln w="12700">
            <a:solidFill>
              <a:srgbClr val="E2E8F0">
                <a:alpha val="75000"/>
              </a:srgbClr>
            </a:solidFill>
            <a:prstDash val="solid"/>
          </a:ln>
        </p:spPr>
      </p:sp>
      <p:sp>
        <p:nvSpPr>
          <p:cNvPr id="14" name="Shape 11"/>
          <p:cNvSpPr/>
          <p:nvPr>
            <p:custDataLst>
              <p:tags r:id="rId9"/>
            </p:custDataLst>
          </p:nvPr>
        </p:nvSpPr>
        <p:spPr>
          <a:xfrm>
            <a:off x="8613648" y="3840480"/>
            <a:ext cx="91440" cy="1024128"/>
          </a:xfrm>
          <a:prstGeom prst="rect">
            <a:avLst/>
          </a:prstGeom>
          <a:solidFill>
            <a:srgbClr val="16A34A"/>
          </a:solidFill>
          <a:ln w="12700">
            <a:solidFill>
              <a:srgbClr val="16A34A"/>
            </a:solidFill>
            <a:prstDash val="solid"/>
          </a:ln>
        </p:spPr>
      </p:sp>
      <p:sp>
        <p:nvSpPr>
          <p:cNvPr id="16" name="Text 13"/>
          <p:cNvSpPr/>
          <p:nvPr>
            <p:custDataLst>
              <p:tags r:id="rId10"/>
            </p:custDataLst>
          </p:nvPr>
        </p:nvSpPr>
        <p:spPr>
          <a:xfrm>
            <a:off x="8851392" y="3860673"/>
            <a:ext cx="2542032" cy="438912"/>
          </a:xfrm>
          <a:prstGeom prst="rect">
            <a:avLst/>
          </a:prstGeom>
          <a:noFill/>
        </p:spPr>
        <p:txBody>
          <a:bodyPr wrap="square" lIns="0" tIns="0" rIns="0" bIns="0" rtlCol="0" anchor="t">
            <a:noAutofit/>
          </a:bodyPr>
          <a:lstStyle/>
          <a:p>
            <a:pPr marL="0" indent="0">
              <a:buNone/>
            </a:pPr>
            <a:r>
              <a:rPr lang="en-US" sz="1600" dirty="0">
                <a:solidFill>
                  <a:srgbClr val="475569"/>
                </a:solidFill>
              </a:rPr>
              <a:t>Standard deviation is close, so price dispersion is broadly comparable across the two datasets.</a:t>
            </a:r>
            <a:endParaRPr lang="en-US" sz="1600" dirty="0">
              <a:solidFill>
                <a:srgbClr val="475569"/>
              </a:solidFill>
            </a:endParaRPr>
          </a:p>
        </p:txBody>
      </p:sp>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7955280" cy="411480"/>
          </a:xfrm>
          <a:prstGeom prst="rect">
            <a:avLst/>
          </a:prstGeom>
          <a:noFill/>
        </p:spPr>
        <p:txBody>
          <a:bodyPr wrap="square" lIns="0" tIns="0" rIns="0" bIns="0"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2. Average prices by common category</a:t>
            </a:r>
            <a:endParaRPr lang="en-US" sz="2600" dirty="0"/>
          </a:p>
        </p:txBody>
      </p:sp>
      <p:pic>
        <p:nvPicPr>
          <p:cNvPr id="4" name="Image 0" descr="/mnt/data/dcc72e1dded72d743d538ae51f4c80cc.png"/>
          <p:cNvPicPr>
            <a:picLocks noChangeAspect="1"/>
          </p:cNvPicPr>
          <p:nvPr/>
        </p:nvPicPr>
        <p:blipFill>
          <a:blip r:embed="rId1"/>
          <a:stretch>
            <a:fillRect/>
          </a:stretch>
        </p:blipFill>
        <p:spPr>
          <a:xfrm>
            <a:off x="493776" y="1061789"/>
            <a:ext cx="8229600" cy="4085197"/>
          </a:xfrm>
          <a:prstGeom prst="rect">
            <a:avLst/>
          </a:prstGeom>
        </p:spPr>
      </p:pic>
      <p:sp>
        <p:nvSpPr>
          <p:cNvPr id="5" name="Shape 2"/>
          <p:cNvSpPr/>
          <p:nvPr/>
        </p:nvSpPr>
        <p:spPr>
          <a:xfrm>
            <a:off x="8942832" y="1115568"/>
            <a:ext cx="2697480" cy="4160520"/>
          </a:xfrm>
          <a:prstGeom prst="roundRect">
            <a:avLst>
              <a:gd name="adj" fmla="val 4068"/>
            </a:avLst>
          </a:prstGeom>
          <a:solidFill>
            <a:srgbClr val="FFFFFF"/>
          </a:solidFill>
          <a:ln w="12700">
            <a:solidFill>
              <a:srgbClr val="E2E8F0"/>
            </a:solidFill>
            <a:prstDash val="solid"/>
          </a:ln>
        </p:spPr>
      </p:sp>
      <p:sp>
        <p:nvSpPr>
          <p:cNvPr id="6" name="Text 3"/>
          <p:cNvSpPr/>
          <p:nvPr/>
        </p:nvSpPr>
        <p:spPr>
          <a:xfrm>
            <a:off x="9177020" y="1257300"/>
            <a:ext cx="2194560" cy="292608"/>
          </a:xfrm>
          <a:prstGeom prst="rect">
            <a:avLst/>
          </a:prstGeom>
          <a:noFill/>
        </p:spPr>
        <p:txBody>
          <a:bodyPr wrap="square" lIns="0" tIns="0" rIns="0" bIns="0" rtlCol="0" anchor="ctr"/>
          <a:lstStyle/>
          <a:p>
            <a:pPr marL="0" indent="0" algn="ctr">
              <a:buNone/>
            </a:pPr>
            <a:r>
              <a:rPr lang="en-US" sz="2000" b="1" dirty="0">
                <a:solidFill>
                  <a:srgbClr val="0F172A"/>
                </a:solidFill>
              </a:rPr>
              <a:t>Category findings</a:t>
            </a:r>
            <a:endParaRPr lang="en-US" sz="2000" b="1" dirty="0">
              <a:solidFill>
                <a:srgbClr val="0F172A"/>
              </a:solidFill>
            </a:endParaRPr>
          </a:p>
        </p:txBody>
      </p:sp>
      <p:sp>
        <p:nvSpPr>
          <p:cNvPr id="7" name="Text 4"/>
          <p:cNvSpPr/>
          <p:nvPr/>
        </p:nvSpPr>
        <p:spPr>
          <a:xfrm>
            <a:off x="9189720" y="1874520"/>
            <a:ext cx="2148840" cy="1783080"/>
          </a:xfrm>
          <a:prstGeom prst="rect">
            <a:avLst/>
          </a:prstGeom>
          <a:noFill/>
        </p:spPr>
        <p:txBody>
          <a:bodyPr wrap="square" lIns="254" tIns="254" rIns="254" bIns="254" rtlCol="0" anchor="ctr">
            <a:noAutofit/>
          </a:bodyPr>
          <a:lstStyle/>
          <a:p>
            <a:pPr marL="0" indent="0">
              <a:buNone/>
            </a:pPr>
            <a:r>
              <a:rPr lang="en-US" sz="1600" dirty="0">
                <a:solidFill>
                  <a:srgbClr val="475569"/>
                </a:solidFill>
              </a:rPr>
              <a:t>Sainsbury's cheaper in:</a:t>
            </a:r>
            <a:endParaRPr lang="en-US" sz="1600" dirty="0"/>
          </a:p>
          <a:p>
            <a:pPr marL="0" indent="0">
              <a:buNone/>
            </a:pPr>
            <a:r>
              <a:rPr lang="en-US" sz="1600" dirty="0">
                <a:solidFill>
                  <a:srgbClr val="475569"/>
                </a:solidFill>
              </a:rPr>
              <a:t>baby_products, bakery, frozen, pets</a:t>
            </a:r>
            <a:endParaRPr lang="en-US" sz="1600" dirty="0"/>
          </a:p>
          <a:p>
            <a:pPr marL="0" indent="0">
              <a:buNone/>
            </a:pPr>
            <a:endParaRPr lang="en-US" sz="1600" dirty="0"/>
          </a:p>
          <a:p>
            <a:pPr marL="0" indent="0">
              <a:buNone/>
            </a:pPr>
            <a:r>
              <a:rPr lang="en-US" sz="1600" dirty="0">
                <a:solidFill>
                  <a:srgbClr val="475569"/>
                </a:solidFill>
              </a:rPr>
              <a:t>Tesco cheaper in:</a:t>
            </a:r>
            <a:endParaRPr lang="en-US" sz="1600" dirty="0"/>
          </a:p>
          <a:p>
            <a:pPr marL="0" indent="0">
              <a:buNone/>
            </a:pPr>
            <a:r>
              <a:rPr lang="en-US" sz="1600" dirty="0">
                <a:solidFill>
                  <a:srgbClr val="475569"/>
                </a:solidFill>
              </a:rPr>
              <a:t>drinks, food_cupboard, fresh_food, health_products, home, household</a:t>
            </a:r>
            <a:endParaRPr lang="en-US" sz="1600" dirty="0">
              <a:solidFill>
                <a:srgbClr val="475569"/>
              </a:solidFill>
            </a:endParaRPr>
          </a:p>
        </p:txBody>
      </p:sp>
      <p:sp>
        <p:nvSpPr>
          <p:cNvPr id="8" name="Text 5"/>
          <p:cNvSpPr/>
          <p:nvPr/>
        </p:nvSpPr>
        <p:spPr>
          <a:xfrm>
            <a:off x="9151620" y="4219448"/>
            <a:ext cx="2148840" cy="594360"/>
          </a:xfrm>
          <a:prstGeom prst="rect">
            <a:avLst/>
          </a:prstGeom>
          <a:noFill/>
        </p:spPr>
        <p:txBody>
          <a:bodyPr wrap="square" lIns="0" tIns="0" rIns="0" bIns="0" rtlCol="0" anchor="ctr">
            <a:noAutofit/>
          </a:bodyPr>
          <a:lstStyle/>
          <a:p>
            <a:pPr marL="0" indent="0" algn="ctr">
              <a:buNone/>
            </a:pPr>
            <a:r>
              <a:rPr lang="en-US" sz="2000" b="1" dirty="0">
                <a:solidFill>
                  <a:srgbClr val="F97316"/>
                </a:solidFill>
              </a:rPr>
              <a:t>Largest gap: household</a:t>
            </a:r>
            <a:endParaRPr lang="en-US" sz="2000" dirty="0"/>
          </a:p>
          <a:p>
            <a:pPr marL="0" indent="0" algn="ctr">
              <a:buNone/>
            </a:pPr>
            <a:r>
              <a:rPr lang="en-US" sz="2000" b="1" dirty="0">
                <a:solidFill>
                  <a:srgbClr val="F97316"/>
                </a:solidFill>
              </a:rPr>
              <a:t>Sainsbury's £6.07 vs Tesco £3.87</a:t>
            </a:r>
            <a:endParaRPr lang="en-US" sz="2000" b="1" dirty="0">
              <a:solidFill>
                <a:srgbClr val="F97316"/>
              </a:solidFill>
            </a:endParaRPr>
          </a:p>
        </p:txBody>
      </p:sp>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16865" y="123317"/>
            <a:ext cx="7955280" cy="411480"/>
          </a:xfrm>
          <a:prstGeom prst="rect">
            <a:avLst/>
          </a:prstGeom>
          <a:noFill/>
        </p:spPr>
        <p:txBody>
          <a:bodyPr wrap="square" lIns="0" tIns="0" rIns="0" bIns="0"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3. Value-for-money analysis</a:t>
            </a:r>
            <a:endParaRPr lang="en-US" sz="2600" dirty="0"/>
          </a:p>
        </p:txBody>
      </p:sp>
      <p:sp>
        <p:nvSpPr>
          <p:cNvPr id="3" name="Text 1"/>
          <p:cNvSpPr/>
          <p:nvPr/>
        </p:nvSpPr>
        <p:spPr>
          <a:xfrm>
            <a:off x="2361438" y="623443"/>
            <a:ext cx="9601200" cy="228600"/>
          </a:xfrm>
          <a:prstGeom prst="rect">
            <a:avLst/>
          </a:prstGeom>
          <a:noFill/>
        </p:spPr>
        <p:txBody>
          <a:bodyPr wrap="square" lIns="0" tIns="0" rIns="0" bIns="0" rtlCol="0" anchor="ctr"/>
          <a:lstStyle/>
          <a:p>
            <a:pPr marL="0" indent="0">
              <a:buNone/>
            </a:pPr>
            <a:r>
              <a:rPr lang="en-US" sz="2000" b="1" dirty="0">
                <a:solidFill>
                  <a:srgbClr val="475569"/>
                </a:solidFill>
              </a:rPr>
              <a:t>Value Index = Number of Products / Average Price</a:t>
            </a:r>
            <a:endParaRPr lang="en-US" sz="2000" b="1" dirty="0"/>
          </a:p>
        </p:txBody>
      </p:sp>
      <p:pic>
        <p:nvPicPr>
          <p:cNvPr id="4" name="Image 0" descr="/mnt/data/cc59fd7ab61f8e6c862f8d58c74a0098.png"/>
          <p:cNvPicPr>
            <a:picLocks noChangeAspect="1"/>
          </p:cNvPicPr>
          <p:nvPr/>
        </p:nvPicPr>
        <p:blipFill>
          <a:blip r:embed="rId1"/>
          <a:stretch>
            <a:fillRect/>
          </a:stretch>
        </p:blipFill>
        <p:spPr>
          <a:xfrm>
            <a:off x="771525" y="1111250"/>
            <a:ext cx="8223885" cy="5455285"/>
          </a:xfrm>
          <a:prstGeom prst="rect">
            <a:avLst/>
          </a:prstGeom>
        </p:spPr>
      </p:pic>
      <p:sp>
        <p:nvSpPr>
          <p:cNvPr id="5" name="Shape 2"/>
          <p:cNvSpPr/>
          <p:nvPr>
            <p:custDataLst>
              <p:tags r:id="rId2"/>
            </p:custDataLst>
          </p:nvPr>
        </p:nvSpPr>
        <p:spPr>
          <a:xfrm>
            <a:off x="9208008" y="1188720"/>
            <a:ext cx="2514600" cy="1024128"/>
          </a:xfrm>
          <a:prstGeom prst="roundRect">
            <a:avLst>
              <a:gd name="adj" fmla="val 10714"/>
            </a:avLst>
          </a:prstGeom>
          <a:solidFill>
            <a:srgbClr val="F0FDF4"/>
          </a:solidFill>
          <a:ln w="12700">
            <a:solidFill>
              <a:srgbClr val="E2E8F0">
                <a:alpha val="75000"/>
              </a:srgbClr>
            </a:solidFill>
            <a:prstDash val="solid"/>
          </a:ln>
        </p:spPr>
      </p:sp>
      <p:sp>
        <p:nvSpPr>
          <p:cNvPr id="6" name="Shape 3"/>
          <p:cNvSpPr/>
          <p:nvPr>
            <p:custDataLst>
              <p:tags r:id="rId3"/>
            </p:custDataLst>
          </p:nvPr>
        </p:nvSpPr>
        <p:spPr>
          <a:xfrm>
            <a:off x="9208008" y="1188720"/>
            <a:ext cx="91440" cy="1024128"/>
          </a:xfrm>
          <a:prstGeom prst="rect">
            <a:avLst/>
          </a:prstGeom>
          <a:solidFill>
            <a:srgbClr val="16A34A"/>
          </a:solidFill>
          <a:ln w="12700">
            <a:solidFill>
              <a:srgbClr val="16A34A"/>
            </a:solidFill>
            <a:prstDash val="solid"/>
          </a:ln>
        </p:spPr>
      </p:sp>
      <p:sp>
        <p:nvSpPr>
          <p:cNvPr id="7" name="Text 4"/>
          <p:cNvSpPr/>
          <p:nvPr>
            <p:custDataLst>
              <p:tags r:id="rId4"/>
            </p:custDataLst>
          </p:nvPr>
        </p:nvSpPr>
        <p:spPr>
          <a:xfrm>
            <a:off x="9445752" y="1335024"/>
            <a:ext cx="2130552" cy="201168"/>
          </a:xfrm>
          <a:prstGeom prst="rect">
            <a:avLst/>
          </a:prstGeom>
          <a:noFill/>
        </p:spPr>
        <p:txBody>
          <a:bodyPr wrap="square" lIns="0" tIns="0" rIns="0" bIns="0" rtlCol="0" anchor="ctr"/>
          <a:lstStyle/>
          <a:p>
            <a:pPr marL="0" indent="0">
              <a:buNone/>
            </a:pPr>
            <a:r>
              <a:rPr lang="en-US" sz="1350" b="1" dirty="0">
                <a:solidFill>
                  <a:srgbClr val="0F172A"/>
                </a:solidFill>
              </a:rPr>
              <a:t>Best zone</a:t>
            </a:r>
            <a:endParaRPr lang="en-US" sz="1350" dirty="0"/>
          </a:p>
        </p:txBody>
      </p:sp>
      <p:sp>
        <p:nvSpPr>
          <p:cNvPr id="8" name="Text 5"/>
          <p:cNvSpPr/>
          <p:nvPr>
            <p:custDataLst>
              <p:tags r:id="rId5"/>
            </p:custDataLst>
          </p:nvPr>
        </p:nvSpPr>
        <p:spPr>
          <a:xfrm>
            <a:off x="9445752" y="1618488"/>
            <a:ext cx="2130552" cy="438912"/>
          </a:xfrm>
          <a:prstGeom prst="rect">
            <a:avLst/>
          </a:prstGeom>
          <a:noFill/>
        </p:spPr>
        <p:txBody>
          <a:bodyPr wrap="square" lIns="0" tIns="0" rIns="0" bIns="0" rtlCol="0" anchor="t">
            <a:normAutofit/>
          </a:bodyPr>
          <a:lstStyle/>
          <a:p>
            <a:pPr marL="0" indent="0">
              <a:buNone/>
            </a:pPr>
            <a:r>
              <a:rPr lang="en-US" sz="1030" dirty="0">
                <a:solidFill>
                  <a:srgbClr val="475569"/>
                </a:solidFill>
              </a:rPr>
              <a:t>Low price + high variety is the strongest value position. Food cupboard and fresh food perform well here.</a:t>
            </a:r>
            <a:endParaRPr lang="en-US" sz="1030" dirty="0"/>
          </a:p>
        </p:txBody>
      </p:sp>
      <p:sp>
        <p:nvSpPr>
          <p:cNvPr id="9" name="Shape 6"/>
          <p:cNvSpPr/>
          <p:nvPr>
            <p:custDataLst>
              <p:tags r:id="rId6"/>
            </p:custDataLst>
          </p:nvPr>
        </p:nvSpPr>
        <p:spPr>
          <a:xfrm>
            <a:off x="9208008" y="2468880"/>
            <a:ext cx="2514600" cy="1024128"/>
          </a:xfrm>
          <a:prstGeom prst="roundRect">
            <a:avLst>
              <a:gd name="adj" fmla="val 10714"/>
            </a:avLst>
          </a:prstGeom>
          <a:solidFill>
            <a:srgbClr val="EFF6FF"/>
          </a:solidFill>
          <a:ln w="12700">
            <a:solidFill>
              <a:srgbClr val="E2E8F0">
                <a:alpha val="75000"/>
              </a:srgbClr>
            </a:solidFill>
            <a:prstDash val="solid"/>
          </a:ln>
        </p:spPr>
      </p:sp>
      <p:sp>
        <p:nvSpPr>
          <p:cNvPr id="10" name="Shape 7"/>
          <p:cNvSpPr/>
          <p:nvPr>
            <p:custDataLst>
              <p:tags r:id="rId7"/>
            </p:custDataLst>
          </p:nvPr>
        </p:nvSpPr>
        <p:spPr>
          <a:xfrm>
            <a:off x="9208008" y="2468880"/>
            <a:ext cx="91440" cy="1024128"/>
          </a:xfrm>
          <a:prstGeom prst="rect">
            <a:avLst/>
          </a:prstGeom>
          <a:solidFill>
            <a:srgbClr val="2563EB"/>
          </a:solidFill>
          <a:ln w="12700">
            <a:solidFill>
              <a:srgbClr val="2563EB"/>
            </a:solidFill>
            <a:prstDash val="solid"/>
          </a:ln>
        </p:spPr>
      </p:sp>
      <p:sp>
        <p:nvSpPr>
          <p:cNvPr id="11" name="Text 8"/>
          <p:cNvSpPr/>
          <p:nvPr>
            <p:custDataLst>
              <p:tags r:id="rId8"/>
            </p:custDataLst>
          </p:nvPr>
        </p:nvSpPr>
        <p:spPr>
          <a:xfrm>
            <a:off x="9445752" y="2615184"/>
            <a:ext cx="2130552" cy="201168"/>
          </a:xfrm>
          <a:prstGeom prst="rect">
            <a:avLst/>
          </a:prstGeom>
          <a:noFill/>
        </p:spPr>
        <p:txBody>
          <a:bodyPr wrap="square" lIns="0" tIns="0" rIns="0" bIns="0" rtlCol="0" anchor="ctr"/>
          <a:lstStyle/>
          <a:p>
            <a:pPr marL="0" indent="0">
              <a:buNone/>
            </a:pPr>
            <a:r>
              <a:rPr lang="en-US" sz="1350" b="1" dirty="0">
                <a:solidFill>
                  <a:srgbClr val="0F172A"/>
                </a:solidFill>
              </a:rPr>
              <a:t>Premium zone</a:t>
            </a:r>
            <a:endParaRPr lang="en-US" sz="1350" dirty="0"/>
          </a:p>
        </p:txBody>
      </p:sp>
      <p:sp>
        <p:nvSpPr>
          <p:cNvPr id="12" name="Text 9"/>
          <p:cNvSpPr/>
          <p:nvPr>
            <p:custDataLst>
              <p:tags r:id="rId9"/>
            </p:custDataLst>
          </p:nvPr>
        </p:nvSpPr>
        <p:spPr>
          <a:xfrm>
            <a:off x="9445752" y="2898648"/>
            <a:ext cx="2130552" cy="438912"/>
          </a:xfrm>
          <a:prstGeom prst="rect">
            <a:avLst/>
          </a:prstGeom>
          <a:noFill/>
        </p:spPr>
        <p:txBody>
          <a:bodyPr wrap="square" lIns="0" tIns="0" rIns="0" bIns="0" rtlCol="0" anchor="t">
            <a:normAutofit/>
          </a:bodyPr>
          <a:lstStyle/>
          <a:p>
            <a:pPr marL="0" indent="0">
              <a:buNone/>
            </a:pPr>
            <a:r>
              <a:rPr lang="en-US" sz="1030" dirty="0">
                <a:solidFill>
                  <a:srgbClr val="475569"/>
                </a:solidFill>
              </a:rPr>
              <a:t>Home, health products and drinks have high average prices but also high variety.</a:t>
            </a:r>
            <a:endParaRPr lang="en-US" sz="1030" dirty="0"/>
          </a:p>
        </p:txBody>
      </p:sp>
      <p:sp>
        <p:nvSpPr>
          <p:cNvPr id="13" name="Shape 10"/>
          <p:cNvSpPr/>
          <p:nvPr>
            <p:custDataLst>
              <p:tags r:id="rId10"/>
            </p:custDataLst>
          </p:nvPr>
        </p:nvSpPr>
        <p:spPr>
          <a:xfrm>
            <a:off x="9208008" y="3749040"/>
            <a:ext cx="2514600" cy="1024128"/>
          </a:xfrm>
          <a:prstGeom prst="roundRect">
            <a:avLst>
              <a:gd name="adj" fmla="val 10714"/>
            </a:avLst>
          </a:prstGeom>
          <a:solidFill>
            <a:srgbClr val="FEF2F2"/>
          </a:solidFill>
          <a:ln w="12700">
            <a:solidFill>
              <a:srgbClr val="E2E8F0">
                <a:alpha val="75000"/>
              </a:srgbClr>
            </a:solidFill>
            <a:prstDash val="solid"/>
          </a:ln>
        </p:spPr>
      </p:sp>
      <p:sp>
        <p:nvSpPr>
          <p:cNvPr id="14" name="Shape 11"/>
          <p:cNvSpPr/>
          <p:nvPr>
            <p:custDataLst>
              <p:tags r:id="rId11"/>
            </p:custDataLst>
          </p:nvPr>
        </p:nvSpPr>
        <p:spPr>
          <a:xfrm>
            <a:off x="9208008" y="3749040"/>
            <a:ext cx="91440" cy="1024128"/>
          </a:xfrm>
          <a:prstGeom prst="rect">
            <a:avLst/>
          </a:prstGeom>
          <a:solidFill>
            <a:srgbClr val="DC2626"/>
          </a:solidFill>
          <a:ln w="12700">
            <a:solidFill>
              <a:srgbClr val="DC2626"/>
            </a:solidFill>
            <a:prstDash val="solid"/>
          </a:ln>
        </p:spPr>
      </p:sp>
      <p:sp>
        <p:nvSpPr>
          <p:cNvPr id="15" name="Text 12"/>
          <p:cNvSpPr/>
          <p:nvPr>
            <p:custDataLst>
              <p:tags r:id="rId12"/>
            </p:custDataLst>
          </p:nvPr>
        </p:nvSpPr>
        <p:spPr>
          <a:xfrm>
            <a:off x="9445752" y="3895344"/>
            <a:ext cx="2130552" cy="201168"/>
          </a:xfrm>
          <a:prstGeom prst="rect">
            <a:avLst/>
          </a:prstGeom>
          <a:noFill/>
        </p:spPr>
        <p:txBody>
          <a:bodyPr wrap="square" lIns="0" tIns="0" rIns="0" bIns="0" rtlCol="0" anchor="ctr"/>
          <a:lstStyle/>
          <a:p>
            <a:pPr marL="0" indent="0">
              <a:buNone/>
            </a:pPr>
            <a:r>
              <a:rPr lang="en-US" sz="1350" b="1" dirty="0">
                <a:solidFill>
                  <a:srgbClr val="0F172A"/>
                </a:solidFill>
              </a:rPr>
              <a:t>Weak zone</a:t>
            </a:r>
            <a:endParaRPr lang="en-US" sz="1350" dirty="0"/>
          </a:p>
        </p:txBody>
      </p:sp>
      <p:sp>
        <p:nvSpPr>
          <p:cNvPr id="16" name="Text 13"/>
          <p:cNvSpPr/>
          <p:nvPr>
            <p:custDataLst>
              <p:tags r:id="rId13"/>
            </p:custDataLst>
          </p:nvPr>
        </p:nvSpPr>
        <p:spPr>
          <a:xfrm>
            <a:off x="9445752" y="4178808"/>
            <a:ext cx="2130552" cy="438912"/>
          </a:xfrm>
          <a:prstGeom prst="rect">
            <a:avLst/>
          </a:prstGeom>
          <a:noFill/>
        </p:spPr>
        <p:txBody>
          <a:bodyPr wrap="square" lIns="0" tIns="0" rIns="0" bIns="0" rtlCol="0" anchor="t">
            <a:normAutofit/>
          </a:bodyPr>
          <a:lstStyle/>
          <a:p>
            <a:pPr marL="0" indent="0">
              <a:buNone/>
            </a:pPr>
            <a:r>
              <a:rPr lang="en-US" sz="1030" dirty="0">
                <a:solidFill>
                  <a:srgbClr val="475569"/>
                </a:solidFill>
              </a:rPr>
              <a:t>High price + low variety is the weakest value position and needs category attention.</a:t>
            </a:r>
            <a:endParaRPr lang="en-US" sz="1030" dirty="0"/>
          </a:p>
        </p:txBody>
      </p:sp>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64592"/>
            <a:ext cx="5474970" cy="429895"/>
          </a:xfrm>
          <a:prstGeom prst="rect">
            <a:avLst/>
          </a:prstGeom>
          <a:noFill/>
        </p:spPr>
        <p:txBody>
          <a:bodyPr wrap="none">
            <a:spAutoFit/>
          </a:bodyPr>
          <a:lstStyle/>
          <a:p>
            <a:pPr algn="l"/>
            <a:r>
              <a:rPr lang="en-US" sz="2200" b="1">
                <a:solidFill>
                  <a:srgbClr val="202020"/>
                </a:solidFill>
                <a:latin typeface="Arial" panose="020B0604020202020204"/>
              </a:rPr>
              <a:t>4. </a:t>
            </a:r>
            <a:r>
              <a:rPr sz="2200" b="1">
                <a:solidFill>
                  <a:srgbClr val="202020"/>
                </a:solidFill>
                <a:latin typeface="Arial" panose="020B0604020202020204"/>
              </a:rPr>
              <a:t>Average Price Difference by Category</a:t>
            </a:r>
            <a:endParaRPr sz="2200" b="1">
              <a:solidFill>
                <a:srgbClr val="202020"/>
              </a:solidFill>
              <a:latin typeface="Arial" panose="020B0604020202020204"/>
            </a:endParaRPr>
          </a:p>
        </p:txBody>
      </p:sp>
      <p:sp>
        <p:nvSpPr>
          <p:cNvPr id="3" name="TextBox 2"/>
          <p:cNvSpPr txBox="1"/>
          <p:nvPr/>
        </p:nvSpPr>
        <p:spPr>
          <a:xfrm>
            <a:off x="411480" y="1118616"/>
            <a:ext cx="9342755" cy="460375"/>
          </a:xfrm>
          <a:prstGeom prst="rect">
            <a:avLst/>
          </a:prstGeom>
          <a:noFill/>
        </p:spPr>
        <p:txBody>
          <a:bodyPr wrap="none">
            <a:spAutoFit/>
          </a:bodyPr>
          <a:lstStyle/>
          <a:p>
            <a:pPr algn="l"/>
            <a:r>
              <a:rPr sz="2400">
                <a:solidFill>
                  <a:srgbClr val="646464"/>
                </a:solidFill>
                <a:latin typeface="Arial" panose="020B0604020202020204"/>
              </a:rPr>
              <a:t>Price difference = Sainsbury's average price - Tesco's average price</a:t>
            </a:r>
            <a:endParaRPr sz="1000">
              <a:solidFill>
                <a:srgbClr val="646464"/>
              </a:solidFill>
              <a:latin typeface="Arial" panose="020B0604020202020204"/>
            </a:endParaRPr>
          </a:p>
        </p:txBody>
      </p:sp>
      <p:pic>
        <p:nvPicPr>
          <p:cNvPr id="4" name="Picture 3" descr="8aaa9f2c-7753-59ae-bf94-dcc0aacf10fd.png"/>
          <p:cNvPicPr>
            <a:picLocks noChangeAspect="1"/>
          </p:cNvPicPr>
          <p:nvPr/>
        </p:nvPicPr>
        <p:blipFill>
          <a:blip r:embed="rId1"/>
          <a:stretch>
            <a:fillRect/>
          </a:stretch>
        </p:blipFill>
        <p:spPr>
          <a:xfrm>
            <a:off x="320040" y="1840353"/>
            <a:ext cx="7132320" cy="3543053"/>
          </a:xfrm>
          <a:prstGeom prst="rect">
            <a:avLst/>
          </a:prstGeom>
        </p:spPr>
      </p:pic>
      <p:pic>
        <p:nvPicPr>
          <p:cNvPr id="5" name="Picture 4" descr="96a3d660-59d6-569f-81a6-2c6b4e0d1a8b.png"/>
          <p:cNvPicPr>
            <a:picLocks noChangeAspect="1"/>
          </p:cNvPicPr>
          <p:nvPr/>
        </p:nvPicPr>
        <p:blipFill>
          <a:blip r:embed="rId2"/>
          <a:stretch>
            <a:fillRect/>
          </a:stretch>
        </p:blipFill>
        <p:spPr>
          <a:xfrm>
            <a:off x="7498079" y="1965290"/>
            <a:ext cx="4343400" cy="32840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64592"/>
            <a:ext cx="5914390" cy="429895"/>
          </a:xfrm>
          <a:prstGeom prst="rect">
            <a:avLst/>
          </a:prstGeom>
          <a:noFill/>
        </p:spPr>
        <p:txBody>
          <a:bodyPr wrap="none">
            <a:spAutoFit/>
          </a:bodyPr>
          <a:lstStyle/>
          <a:p>
            <a:pPr algn="l"/>
            <a:r>
              <a:rPr lang="en-US" sz="2200" b="1">
                <a:solidFill>
                  <a:srgbClr val="202020"/>
                </a:solidFill>
                <a:latin typeface="Arial" panose="020B0604020202020204"/>
              </a:rPr>
              <a:t>5. </a:t>
            </a:r>
            <a:r>
              <a:rPr sz="2200" b="1">
                <a:solidFill>
                  <a:srgbClr val="202020"/>
                </a:solidFill>
                <a:latin typeface="Arial" panose="020B0604020202020204"/>
              </a:rPr>
              <a:t>Category Positioning by Price Difference</a:t>
            </a:r>
            <a:endParaRPr sz="2200" b="1">
              <a:solidFill>
                <a:srgbClr val="202020"/>
              </a:solidFill>
              <a:latin typeface="Arial" panose="020B0604020202020204"/>
            </a:endParaRPr>
          </a:p>
        </p:txBody>
      </p:sp>
      <p:sp>
        <p:nvSpPr>
          <p:cNvPr id="3" name="TextBox 2"/>
          <p:cNvSpPr txBox="1"/>
          <p:nvPr/>
        </p:nvSpPr>
        <p:spPr>
          <a:xfrm>
            <a:off x="411480" y="744601"/>
            <a:ext cx="8688705" cy="368300"/>
          </a:xfrm>
          <a:prstGeom prst="rect">
            <a:avLst/>
          </a:prstGeom>
          <a:noFill/>
        </p:spPr>
        <p:txBody>
          <a:bodyPr wrap="none">
            <a:spAutoFit/>
          </a:bodyPr>
          <a:lstStyle/>
          <a:p>
            <a:pPr algn="l"/>
            <a:r>
              <a:rPr>
                <a:solidFill>
                  <a:srgbClr val="646464"/>
                </a:solidFill>
                <a:latin typeface="Arial" panose="020B0604020202020204"/>
              </a:rPr>
              <a:t>Hotelling-like model: positioning categories by price difference (Sainsbury's - Tesco).</a:t>
            </a:r>
            <a:endParaRPr>
              <a:solidFill>
                <a:srgbClr val="646464"/>
              </a:solidFill>
              <a:latin typeface="Arial" panose="020B0604020202020204"/>
            </a:endParaRPr>
          </a:p>
        </p:txBody>
      </p:sp>
      <p:pic>
        <p:nvPicPr>
          <p:cNvPr id="4" name="Picture 3" descr="5bb30414-1a66-5380-a434-1282647f728f.png"/>
          <p:cNvPicPr>
            <a:picLocks noChangeAspect="1"/>
          </p:cNvPicPr>
          <p:nvPr/>
        </p:nvPicPr>
        <p:blipFill>
          <a:blip r:embed="rId1"/>
          <a:stretch>
            <a:fillRect/>
          </a:stretch>
        </p:blipFill>
        <p:spPr>
          <a:xfrm>
            <a:off x="274320" y="1504503"/>
            <a:ext cx="8138160" cy="4306193"/>
          </a:xfrm>
          <a:prstGeom prst="rect">
            <a:avLst/>
          </a:prstGeom>
        </p:spPr>
      </p:pic>
      <p:sp>
        <p:nvSpPr>
          <p:cNvPr id="5" name="Rounded Rectangle 4"/>
          <p:cNvSpPr/>
          <p:nvPr/>
        </p:nvSpPr>
        <p:spPr>
          <a:xfrm>
            <a:off x="8412480" y="1325880"/>
            <a:ext cx="3575685" cy="4526280"/>
          </a:xfrm>
          <a:prstGeom prst="roundRect">
            <a:avLst/>
          </a:prstGeom>
          <a:solidFill>
            <a:srgbClr val="F7F7F7"/>
          </a:solidFill>
          <a:ln>
            <a:solidFill>
              <a:srgbClr val="C8C8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282828"/>
                </a:solidFill>
                <a:latin typeface="Arial" panose="020B0604020202020204"/>
              </a:rPr>
              <a:t>Interpretation of the plot:</a:t>
            </a:r>
            <a:endParaRPr sz="2800" b="1">
              <a:solidFill>
                <a:srgbClr val="282828"/>
              </a:solidFill>
              <a:latin typeface="Arial" panose="020B0604020202020204"/>
            </a:endParaRPr>
          </a:p>
          <a:p>
            <a:r>
              <a:rPr sz="2000">
                <a:solidFill>
                  <a:srgbClr val="323232"/>
                </a:solidFill>
                <a:latin typeface="Arial" panose="020B0604020202020204"/>
              </a:rPr>
              <a:t>Red points (to the left of 0): These categories are cheaper at Tesco.</a:t>
            </a:r>
            <a:endParaRPr sz="2000">
              <a:solidFill>
                <a:srgbClr val="323232"/>
              </a:solidFill>
              <a:latin typeface="Arial" panose="020B0604020202020204"/>
            </a:endParaRPr>
          </a:p>
          <a:p>
            <a:r>
              <a:rPr sz="2000">
                <a:solidFill>
                  <a:srgbClr val="323232"/>
                </a:solidFill>
                <a:latin typeface="Arial" panose="020B0604020202020204"/>
              </a:rPr>
              <a:t>Blue points (to the right of 0): These categories are cheaper at</a:t>
            </a:r>
            <a:r>
              <a:rPr lang="en-US" sz="2000">
                <a:solidFill>
                  <a:srgbClr val="323232"/>
                </a:solidFill>
                <a:latin typeface="Arial" panose="020B0604020202020204"/>
              </a:rPr>
              <a:t> </a:t>
            </a:r>
            <a:r>
              <a:rPr sz="2000">
                <a:solidFill>
                  <a:srgbClr val="323232"/>
                </a:solidFill>
                <a:latin typeface="Arial" panose="020B0604020202020204"/>
              </a:rPr>
              <a:t>Sainsbury's.</a:t>
            </a:r>
            <a:endParaRPr sz="2000">
              <a:solidFill>
                <a:srgbClr val="323232"/>
              </a:solidFill>
              <a:latin typeface="Arial" panose="020B0604020202020204"/>
            </a:endParaRPr>
          </a:p>
          <a:p>
            <a:r>
              <a:rPr sz="2000">
                <a:solidFill>
                  <a:srgbClr val="323232"/>
                </a:solidFill>
                <a:latin typeface="Arial" panose="020B0604020202020204"/>
              </a:rPr>
              <a:t>Grey point (at 0, if any): Indicates categories where prices are equal.</a:t>
            </a:r>
            <a:endParaRPr sz="2000">
              <a:solidFill>
                <a:srgbClr val="323232"/>
              </a:solidFill>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64592"/>
            <a:ext cx="7155180" cy="429895"/>
          </a:xfrm>
          <a:prstGeom prst="rect">
            <a:avLst/>
          </a:prstGeom>
          <a:noFill/>
        </p:spPr>
        <p:txBody>
          <a:bodyPr wrap="none">
            <a:spAutoFit/>
          </a:bodyPr>
          <a:lstStyle/>
          <a:p>
            <a:pPr algn="l"/>
            <a:r>
              <a:rPr lang="en-US" sz="2200" b="1">
                <a:solidFill>
                  <a:srgbClr val="202020"/>
                </a:solidFill>
                <a:latin typeface="Arial" panose="020B0604020202020204"/>
              </a:rPr>
              <a:t>6. </a:t>
            </a:r>
            <a:r>
              <a:rPr sz="2200" b="1">
                <a:solidFill>
                  <a:srgbClr val="202020"/>
                </a:solidFill>
                <a:latin typeface="Arial" panose="020B0604020202020204"/>
              </a:rPr>
              <a:t>Own-Brand vs. Non-Own-Brand Price Comparison</a:t>
            </a:r>
            <a:endParaRPr sz="2200" b="1">
              <a:solidFill>
                <a:srgbClr val="202020"/>
              </a:solidFill>
              <a:latin typeface="Arial" panose="020B0604020202020204"/>
            </a:endParaRPr>
          </a:p>
        </p:txBody>
      </p:sp>
      <p:sp>
        <p:nvSpPr>
          <p:cNvPr id="3" name="TextBox 2"/>
          <p:cNvSpPr txBox="1"/>
          <p:nvPr/>
        </p:nvSpPr>
        <p:spPr>
          <a:xfrm>
            <a:off x="411480" y="585216"/>
            <a:ext cx="11338560" cy="320040"/>
          </a:xfrm>
          <a:prstGeom prst="rect">
            <a:avLst/>
          </a:prstGeom>
          <a:noFill/>
        </p:spPr>
        <p:txBody>
          <a:bodyPr wrap="none">
            <a:spAutoFit/>
          </a:bodyPr>
          <a:lstStyle/>
          <a:p>
            <a:pPr algn="l"/>
            <a:r>
              <a:rPr sz="1100">
                <a:solidFill>
                  <a:srgbClr val="646464"/>
                </a:solidFill>
                <a:latin typeface="Arial" panose="020B0604020202020204"/>
              </a:rPr>
              <a:t>Average prices for own-brand and non-own-brand products in Sainsbury's and Tesco.</a:t>
            </a:r>
            <a:endParaRPr sz="1100">
              <a:solidFill>
                <a:srgbClr val="646464"/>
              </a:solidFill>
              <a:latin typeface="Arial" panose="020B0604020202020204"/>
            </a:endParaRPr>
          </a:p>
        </p:txBody>
      </p:sp>
      <p:pic>
        <p:nvPicPr>
          <p:cNvPr id="4" name="Picture 3" descr="062e4ec7-fb7c-5f76-915f-51a66ba76d7f.png"/>
          <p:cNvPicPr>
            <a:picLocks noChangeAspect="1"/>
          </p:cNvPicPr>
          <p:nvPr/>
        </p:nvPicPr>
        <p:blipFill>
          <a:blip r:embed="rId1"/>
          <a:stretch>
            <a:fillRect/>
          </a:stretch>
        </p:blipFill>
        <p:spPr>
          <a:xfrm>
            <a:off x="1690128" y="1051560"/>
            <a:ext cx="8506942" cy="5074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7955280" cy="411480"/>
          </a:xfrm>
          <a:prstGeom prst="rect">
            <a:avLst/>
          </a:prstGeom>
          <a:noFill/>
        </p:spPr>
        <p:txBody>
          <a:bodyPr wrap="square" lIns="0" tIns="0" rIns="0" bIns="0"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Conclusion: no single winner overall</a:t>
            </a:r>
            <a:endParaRPr lang="en-US" sz="2600" dirty="0"/>
          </a:p>
        </p:txBody>
      </p:sp>
      <p:sp>
        <p:nvSpPr>
          <p:cNvPr id="3" name="Text 1"/>
          <p:cNvSpPr/>
          <p:nvPr/>
        </p:nvSpPr>
        <p:spPr>
          <a:xfrm>
            <a:off x="521208" y="749808"/>
            <a:ext cx="9601200" cy="228600"/>
          </a:xfrm>
          <a:prstGeom prst="rect">
            <a:avLst/>
          </a:prstGeom>
          <a:noFill/>
        </p:spPr>
        <p:txBody>
          <a:bodyPr wrap="square" lIns="0" tIns="0" rIns="0" bIns="0" rtlCol="0" anchor="ctr"/>
          <a:lstStyle/>
          <a:p>
            <a:pPr marL="0" indent="0">
              <a:buNone/>
            </a:pPr>
            <a:r>
              <a:rPr lang="en-US" sz="1050" dirty="0">
                <a:solidFill>
                  <a:srgbClr val="475569"/>
                </a:solidFill>
              </a:rPr>
              <a:t>.</a:t>
            </a:r>
            <a:endParaRPr lang="en-US" sz="1050" dirty="0"/>
          </a:p>
        </p:txBody>
      </p:sp>
      <p:sp>
        <p:nvSpPr>
          <p:cNvPr id="4" name="Text 2"/>
          <p:cNvSpPr/>
          <p:nvPr/>
        </p:nvSpPr>
        <p:spPr>
          <a:xfrm>
            <a:off x="822960" y="1143000"/>
            <a:ext cx="3017520" cy="384048"/>
          </a:xfrm>
          <a:prstGeom prst="rect">
            <a:avLst/>
          </a:prstGeom>
          <a:noFill/>
        </p:spPr>
        <p:txBody>
          <a:bodyPr wrap="square" lIns="0" tIns="0" rIns="0" bIns="0" rtlCol="0" anchor="ctr"/>
          <a:lstStyle/>
          <a:p>
            <a:pPr marL="0" indent="0">
              <a:buNone/>
            </a:pPr>
            <a:r>
              <a:rPr lang="en-US" sz="2200" b="1" dirty="0">
                <a:solidFill>
                  <a:srgbClr val="0F172A"/>
                </a:solidFill>
              </a:rPr>
              <a:t>Three takeaways</a:t>
            </a:r>
            <a:endParaRPr lang="en-US" sz="2200" dirty="0"/>
          </a:p>
        </p:txBody>
      </p:sp>
      <p:sp>
        <p:nvSpPr>
          <p:cNvPr id="5" name="Shape 3"/>
          <p:cNvSpPr/>
          <p:nvPr>
            <p:custDataLst>
              <p:tags r:id="rId1"/>
            </p:custDataLst>
          </p:nvPr>
        </p:nvSpPr>
        <p:spPr>
          <a:xfrm>
            <a:off x="822960" y="1783080"/>
            <a:ext cx="3337560" cy="1024128"/>
          </a:xfrm>
          <a:prstGeom prst="roundRect">
            <a:avLst>
              <a:gd name="adj" fmla="val 10714"/>
            </a:avLst>
          </a:prstGeom>
          <a:solidFill>
            <a:srgbClr val="EFF6FF"/>
          </a:solidFill>
          <a:ln w="12700">
            <a:solidFill>
              <a:srgbClr val="E2E8F0">
                <a:alpha val="75000"/>
              </a:srgbClr>
            </a:solidFill>
            <a:prstDash val="solid"/>
          </a:ln>
        </p:spPr>
      </p:sp>
      <p:sp>
        <p:nvSpPr>
          <p:cNvPr id="6" name="Shape 4"/>
          <p:cNvSpPr/>
          <p:nvPr>
            <p:custDataLst>
              <p:tags r:id="rId2"/>
            </p:custDataLst>
          </p:nvPr>
        </p:nvSpPr>
        <p:spPr>
          <a:xfrm>
            <a:off x="822960" y="1920240"/>
            <a:ext cx="91440" cy="1024128"/>
          </a:xfrm>
          <a:prstGeom prst="rect">
            <a:avLst/>
          </a:prstGeom>
          <a:solidFill>
            <a:srgbClr val="2563EB"/>
          </a:solidFill>
          <a:ln w="12700">
            <a:solidFill>
              <a:srgbClr val="2563EB"/>
            </a:solidFill>
            <a:prstDash val="solid"/>
          </a:ln>
        </p:spPr>
      </p:sp>
      <p:sp>
        <p:nvSpPr>
          <p:cNvPr id="7" name="Text 5"/>
          <p:cNvSpPr/>
          <p:nvPr>
            <p:custDataLst>
              <p:tags r:id="rId3"/>
            </p:custDataLst>
          </p:nvPr>
        </p:nvSpPr>
        <p:spPr>
          <a:xfrm>
            <a:off x="1060704" y="1929384"/>
            <a:ext cx="2953512" cy="201168"/>
          </a:xfrm>
          <a:prstGeom prst="rect">
            <a:avLst/>
          </a:prstGeom>
          <a:noFill/>
        </p:spPr>
        <p:txBody>
          <a:bodyPr wrap="square" lIns="0" tIns="0" rIns="0" bIns="0" rtlCol="0" anchor="ctr"/>
          <a:lstStyle/>
          <a:p>
            <a:pPr marL="0" indent="0">
              <a:buNone/>
            </a:pPr>
            <a:r>
              <a:rPr lang="en-US" sz="1350" b="1" dirty="0">
                <a:solidFill>
                  <a:srgbClr val="0F172A"/>
                </a:solidFill>
              </a:rPr>
              <a:t>1. Overall prices are close</a:t>
            </a:r>
            <a:endParaRPr lang="en-US" sz="1350" dirty="0"/>
          </a:p>
        </p:txBody>
      </p:sp>
      <p:sp>
        <p:nvSpPr>
          <p:cNvPr id="8" name="Text 6"/>
          <p:cNvSpPr/>
          <p:nvPr>
            <p:custDataLst>
              <p:tags r:id="rId4"/>
            </p:custDataLst>
          </p:nvPr>
        </p:nvSpPr>
        <p:spPr>
          <a:xfrm>
            <a:off x="1060450" y="2134235"/>
            <a:ext cx="2953385" cy="673100"/>
          </a:xfrm>
          <a:prstGeom prst="rect">
            <a:avLst/>
          </a:prstGeom>
          <a:noFill/>
        </p:spPr>
        <p:txBody>
          <a:bodyPr wrap="square" lIns="0" tIns="0" rIns="0" bIns="0" rtlCol="0" anchor="t">
            <a:noAutofit/>
          </a:bodyPr>
          <a:lstStyle/>
          <a:p>
            <a:pPr marL="0" indent="0">
              <a:buNone/>
            </a:pPr>
            <a:r>
              <a:rPr lang="en-US" sz="1400" dirty="0">
                <a:solidFill>
                  <a:srgbClr val="475569"/>
                </a:solidFill>
              </a:rPr>
              <a:t>Mean and median prices are similar, so the broad price level is not dramatically different.</a:t>
            </a:r>
            <a:endParaRPr lang="en-US" sz="1400" dirty="0">
              <a:solidFill>
                <a:srgbClr val="475569"/>
              </a:solidFill>
            </a:endParaRPr>
          </a:p>
        </p:txBody>
      </p:sp>
      <p:sp>
        <p:nvSpPr>
          <p:cNvPr id="9" name="Shape 7"/>
          <p:cNvSpPr/>
          <p:nvPr>
            <p:custDataLst>
              <p:tags r:id="rId5"/>
            </p:custDataLst>
          </p:nvPr>
        </p:nvSpPr>
        <p:spPr>
          <a:xfrm>
            <a:off x="4434840" y="1783080"/>
            <a:ext cx="3337560" cy="1024128"/>
          </a:xfrm>
          <a:prstGeom prst="roundRect">
            <a:avLst>
              <a:gd name="adj" fmla="val 10714"/>
            </a:avLst>
          </a:prstGeom>
          <a:solidFill>
            <a:srgbClr val="FFF7ED"/>
          </a:solidFill>
          <a:ln w="12700">
            <a:solidFill>
              <a:srgbClr val="E2E8F0">
                <a:alpha val="75000"/>
              </a:srgbClr>
            </a:solidFill>
            <a:prstDash val="solid"/>
          </a:ln>
        </p:spPr>
      </p:sp>
      <p:sp>
        <p:nvSpPr>
          <p:cNvPr id="10" name="Shape 8"/>
          <p:cNvSpPr/>
          <p:nvPr>
            <p:custDataLst>
              <p:tags r:id="rId6"/>
            </p:custDataLst>
          </p:nvPr>
        </p:nvSpPr>
        <p:spPr>
          <a:xfrm>
            <a:off x="4434840" y="1783080"/>
            <a:ext cx="91440" cy="1024128"/>
          </a:xfrm>
          <a:prstGeom prst="rect">
            <a:avLst/>
          </a:prstGeom>
          <a:solidFill>
            <a:srgbClr val="F97316"/>
          </a:solidFill>
          <a:ln w="12700">
            <a:solidFill>
              <a:srgbClr val="F97316"/>
            </a:solidFill>
            <a:prstDash val="solid"/>
          </a:ln>
        </p:spPr>
      </p:sp>
      <p:sp>
        <p:nvSpPr>
          <p:cNvPr id="11" name="Text 9"/>
          <p:cNvSpPr/>
          <p:nvPr>
            <p:custDataLst>
              <p:tags r:id="rId7"/>
            </p:custDataLst>
          </p:nvPr>
        </p:nvSpPr>
        <p:spPr>
          <a:xfrm>
            <a:off x="4672584" y="1929384"/>
            <a:ext cx="2953512" cy="201168"/>
          </a:xfrm>
          <a:prstGeom prst="rect">
            <a:avLst/>
          </a:prstGeom>
          <a:noFill/>
        </p:spPr>
        <p:txBody>
          <a:bodyPr wrap="square" lIns="0" tIns="0" rIns="0" bIns="0" rtlCol="0" anchor="ctr"/>
          <a:lstStyle/>
          <a:p>
            <a:pPr marL="0" indent="0">
              <a:buNone/>
            </a:pPr>
            <a:r>
              <a:rPr lang="en-US" sz="1350" b="1" dirty="0">
                <a:solidFill>
                  <a:srgbClr val="0F172A"/>
                </a:solidFill>
              </a:rPr>
              <a:t>2. Tesco wins more categories</a:t>
            </a:r>
            <a:endParaRPr lang="en-US" sz="1350" dirty="0"/>
          </a:p>
        </p:txBody>
      </p:sp>
      <p:sp>
        <p:nvSpPr>
          <p:cNvPr id="12" name="Text 10"/>
          <p:cNvSpPr/>
          <p:nvPr>
            <p:custDataLst>
              <p:tags r:id="rId8"/>
            </p:custDataLst>
          </p:nvPr>
        </p:nvSpPr>
        <p:spPr>
          <a:xfrm>
            <a:off x="4672584" y="2212848"/>
            <a:ext cx="2953512" cy="438912"/>
          </a:xfrm>
          <a:prstGeom prst="rect">
            <a:avLst/>
          </a:prstGeom>
          <a:noFill/>
        </p:spPr>
        <p:txBody>
          <a:bodyPr wrap="square" lIns="0" tIns="0" rIns="0" bIns="0" rtlCol="0" anchor="t">
            <a:noAutofit/>
          </a:bodyPr>
          <a:lstStyle/>
          <a:p>
            <a:pPr marL="0" indent="0">
              <a:buNone/>
            </a:pPr>
            <a:r>
              <a:rPr lang="en-US" sz="1200" dirty="0">
                <a:solidFill>
                  <a:srgbClr val="475569"/>
                </a:solidFill>
              </a:rPr>
              <a:t>Tesco has lower average prices in 6 of 10 common categories, with a clear advantage in household.</a:t>
            </a:r>
            <a:endParaRPr lang="en-US" sz="1200" dirty="0">
              <a:solidFill>
                <a:srgbClr val="475569"/>
              </a:solidFill>
            </a:endParaRPr>
          </a:p>
        </p:txBody>
      </p:sp>
      <p:sp>
        <p:nvSpPr>
          <p:cNvPr id="13" name="Shape 11"/>
          <p:cNvSpPr/>
          <p:nvPr>
            <p:custDataLst>
              <p:tags r:id="rId9"/>
            </p:custDataLst>
          </p:nvPr>
        </p:nvSpPr>
        <p:spPr>
          <a:xfrm>
            <a:off x="8046720" y="1783080"/>
            <a:ext cx="3337560" cy="1024128"/>
          </a:xfrm>
          <a:prstGeom prst="roundRect">
            <a:avLst>
              <a:gd name="adj" fmla="val 10714"/>
            </a:avLst>
          </a:prstGeom>
          <a:solidFill>
            <a:srgbClr val="F0FDF4"/>
          </a:solidFill>
          <a:ln w="12700">
            <a:solidFill>
              <a:srgbClr val="E2E8F0">
                <a:alpha val="75000"/>
              </a:srgbClr>
            </a:solidFill>
            <a:prstDash val="solid"/>
          </a:ln>
        </p:spPr>
      </p:sp>
      <p:sp>
        <p:nvSpPr>
          <p:cNvPr id="14" name="Shape 12"/>
          <p:cNvSpPr/>
          <p:nvPr>
            <p:custDataLst>
              <p:tags r:id="rId10"/>
            </p:custDataLst>
          </p:nvPr>
        </p:nvSpPr>
        <p:spPr>
          <a:xfrm>
            <a:off x="8046720" y="1783080"/>
            <a:ext cx="91440" cy="1024128"/>
          </a:xfrm>
          <a:prstGeom prst="rect">
            <a:avLst/>
          </a:prstGeom>
          <a:solidFill>
            <a:srgbClr val="16A34A"/>
          </a:solidFill>
          <a:ln w="12700">
            <a:solidFill>
              <a:srgbClr val="16A34A"/>
            </a:solidFill>
            <a:prstDash val="solid"/>
          </a:ln>
        </p:spPr>
      </p:sp>
      <p:sp>
        <p:nvSpPr>
          <p:cNvPr id="15" name="Text 13"/>
          <p:cNvSpPr/>
          <p:nvPr>
            <p:custDataLst>
              <p:tags r:id="rId11"/>
            </p:custDataLst>
          </p:nvPr>
        </p:nvSpPr>
        <p:spPr>
          <a:xfrm>
            <a:off x="8284464" y="1929384"/>
            <a:ext cx="2953512" cy="201168"/>
          </a:xfrm>
          <a:prstGeom prst="rect">
            <a:avLst/>
          </a:prstGeom>
          <a:noFill/>
        </p:spPr>
        <p:txBody>
          <a:bodyPr wrap="square" lIns="0" tIns="0" rIns="0" bIns="0" rtlCol="0" anchor="ctr"/>
          <a:lstStyle/>
          <a:p>
            <a:pPr marL="0" indent="0">
              <a:buNone/>
            </a:pPr>
            <a:r>
              <a:rPr lang="en-US" sz="1350" b="1" dirty="0">
                <a:solidFill>
                  <a:srgbClr val="0F172A"/>
                </a:solidFill>
              </a:rPr>
              <a:t>3. Value also needs variety</a:t>
            </a:r>
            <a:endParaRPr lang="en-US" sz="1350" dirty="0"/>
          </a:p>
        </p:txBody>
      </p:sp>
      <p:sp>
        <p:nvSpPr>
          <p:cNvPr id="16" name="Text 14"/>
          <p:cNvSpPr/>
          <p:nvPr>
            <p:custDataLst>
              <p:tags r:id="rId12"/>
            </p:custDataLst>
          </p:nvPr>
        </p:nvSpPr>
        <p:spPr>
          <a:xfrm>
            <a:off x="8284464" y="2212848"/>
            <a:ext cx="2953512" cy="438912"/>
          </a:xfrm>
          <a:prstGeom prst="rect">
            <a:avLst/>
          </a:prstGeom>
          <a:noFill/>
        </p:spPr>
        <p:txBody>
          <a:bodyPr wrap="square" lIns="0" tIns="0" rIns="0" bIns="0" rtlCol="0" anchor="t">
            <a:noAutofit/>
          </a:bodyPr>
          <a:lstStyle/>
          <a:p>
            <a:pPr marL="0" indent="0">
              <a:buNone/>
            </a:pPr>
            <a:r>
              <a:rPr lang="en-US" sz="1200" dirty="0">
                <a:solidFill>
                  <a:srgbClr val="475569"/>
                </a:solidFill>
              </a:rPr>
              <a:t>A lower price is not always better if customers face fewer choices. The value index captures this trade-off.</a:t>
            </a:r>
            <a:endParaRPr lang="en-US" sz="1200" dirty="0">
              <a:solidFill>
                <a:srgbClr val="475569"/>
              </a:solidFill>
            </a:endParaRPr>
          </a:p>
        </p:txBody>
      </p:sp>
      <p:sp>
        <p:nvSpPr>
          <p:cNvPr id="17" name="Shape 15"/>
          <p:cNvSpPr/>
          <p:nvPr/>
        </p:nvSpPr>
        <p:spPr>
          <a:xfrm>
            <a:off x="1234440" y="3977640"/>
            <a:ext cx="9738360" cy="1005840"/>
          </a:xfrm>
          <a:prstGeom prst="roundRect">
            <a:avLst>
              <a:gd name="adj" fmla="val 14545"/>
            </a:avLst>
          </a:prstGeom>
          <a:solidFill>
            <a:srgbClr val="0F172A"/>
          </a:solidFill>
          <a:ln w="12700">
            <a:solidFill>
              <a:srgbClr val="0F172A"/>
            </a:solidFill>
            <a:prstDash val="solid"/>
          </a:ln>
        </p:spPr>
      </p:sp>
      <p:sp>
        <p:nvSpPr>
          <p:cNvPr id="18" name="Text 16"/>
          <p:cNvSpPr/>
          <p:nvPr/>
        </p:nvSpPr>
        <p:spPr>
          <a:xfrm>
            <a:off x="1600200" y="4251960"/>
            <a:ext cx="9006840" cy="475488"/>
          </a:xfrm>
          <a:prstGeom prst="rect">
            <a:avLst/>
          </a:prstGeom>
          <a:noFill/>
        </p:spPr>
        <p:txBody>
          <a:bodyPr wrap="square" lIns="0" tIns="0" rIns="0" bIns="0" rtlCol="0" anchor="ctr">
            <a:noAutofit/>
          </a:bodyPr>
          <a:lstStyle/>
          <a:p>
            <a:pPr marL="0" indent="0" algn="ctr">
              <a:buNone/>
            </a:pPr>
            <a:r>
              <a:rPr lang="en-US" sz="2000" b="1" dirty="0">
                <a:solidFill>
                  <a:srgbClr val="FFFFFF"/>
                </a:solidFill>
              </a:rPr>
              <a:t>Final message: Tesco appears more price-competitive in more categories, while Sainsbury's still performs strongly in selected categories and may offer broader value in some product areas.</a:t>
            </a:r>
            <a:endParaRPr lang="en-US" sz="2000" b="1" dirty="0">
              <a:solidFill>
                <a:srgbClr val="FFFFFF"/>
              </a:solidFill>
            </a:endParaRPr>
          </a:p>
        </p:txBody>
      </p:sp>
      <p:sp>
        <p:nvSpPr>
          <p:cNvPr id="19" name="Text 17"/>
          <p:cNvSpPr/>
          <p:nvPr/>
        </p:nvSpPr>
        <p:spPr>
          <a:xfrm>
            <a:off x="1737360" y="5532120"/>
            <a:ext cx="8869680" cy="320040"/>
          </a:xfrm>
          <a:prstGeom prst="rect">
            <a:avLst/>
          </a:prstGeom>
          <a:noFill/>
        </p:spPr>
        <p:txBody>
          <a:bodyPr wrap="square" lIns="0" tIns="0" rIns="0" bIns="0" rtlCol="0" anchor="ctr"/>
          <a:lstStyle/>
          <a:p>
            <a:pPr marL="0" indent="0" algn="ctr">
              <a:buNone/>
            </a:pPr>
            <a:endParaRPr lang="en-US" sz="1250" dirty="0"/>
          </a:p>
        </p:txBody>
      </p:sp>
      <p:sp>
        <p:nvSpPr>
          <p:cNvPr id="25" name="Slide Number Placeholder 0"/>
          <p:cNvSpPr>
            <a:spLocks noGrp="1"/>
          </p:cNvSpPr>
          <p:nvPr>
            <p:ph type="sldNum" sz="quarter" idx="4294967295"/>
          </p:nvPr>
        </p:nvSpPr>
        <p:spPr>
          <a:xfrm>
            <a:off x="11430000" y="6510528"/>
            <a:ext cx="800000" cy="300000"/>
          </a:xfrm>
          <a:prstGeom prst="rect">
            <a:avLst/>
          </a:prstGeom>
        </p:spPr>
        <p:txBody>
          <a:bodyPr/>
          <a:lstStyle>
            <a:lvl1pPr>
              <a:defRPr sz="800">
                <a:solidFill>
                  <a:srgbClr val="64748B"/>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tags/tag1.xml><?xml version="1.0" encoding="utf-8"?>
<p:tagLst xmlns:p="http://schemas.openxmlformats.org/presentationml/2006/main">
  <p:tag name="KSO_WM_DIAGRAM_VIRTUALLY_FRAME" val="{&quot;height&quot;:288.16,&quot;left&quot;:678.24,&quot;top&quot;:94.88,&quot;width&quot;:230.4}"/>
</p:tagLst>
</file>

<file path=ppt/tags/tag2.xml><?xml version="1.0" encoding="utf-8"?>
<p:tagLst xmlns:p="http://schemas.openxmlformats.org/presentationml/2006/main">
  <p:tag name="KSO_WM_DIAGRAM_VIRTUALLY_FRAME" val="{&quot;height&quot;:288.16,&quot;left&quot;:678.24,&quot;top&quot;:94.88,&quot;width&quot;:230.4}"/>
</p:tagLst>
</file>

<file path=ppt/tags/tag3.xml><?xml version="1.0" encoding="utf-8"?>
<p:tagLst xmlns:p="http://schemas.openxmlformats.org/presentationml/2006/main">
  <p:tag name="KSO_WM_DIAGRAM_VIRTUALLY_FRAME" val="{&quot;height&quot;:288.16,&quot;left&quot;:678.24,&quot;top&quot;:94.88,&quot;width&quot;:230.4}"/>
</p:tagLst>
</file>

<file path=ppt/tags/tag4.xml><?xml version="1.0" encoding="utf-8"?>
<p:tagLst xmlns:p="http://schemas.openxmlformats.org/presentationml/2006/main">
  <p:tag name="KSO_WM_DIAGRAM_VIRTUALLY_FRAME" val="{&quot;height&quot;:288.16,&quot;left&quot;:678.24,&quot;top&quot;:94.88,&quot;width&quot;:230.4}"/>
</p:tagLst>
</file>

<file path=ppt/tags/tag5.xml><?xml version="1.0" encoding="utf-8"?>
<p:tagLst xmlns:p="http://schemas.openxmlformats.org/presentationml/2006/main">
  <p:tag name="KSO_WM_DIAGRAM_VIRTUALLY_FRAME" val="{&quot;height&quot;:288.16,&quot;left&quot;:678.24,&quot;top&quot;:94.88,&quot;width&quot;:230.4}"/>
</p:tagLst>
</file>

<file path=ppt/tags/tag6.xml><?xml version="1.0" encoding="utf-8"?>
<p:tagLst xmlns:p="http://schemas.openxmlformats.org/presentationml/2006/main">
  <p:tag name="KSO_WM_DIAGRAM_VIRTUALLY_FRAME" val="{&quot;height&quot;:288.16,&quot;left&quot;:678.24,&quot;top&quot;:94.88,&quot;width&quot;:230.4}"/>
</p:tagLst>
</file>

<file path=ppt/tags/tag7.xml><?xml version="1.0" encoding="utf-8"?>
<p:tagLst xmlns:p="http://schemas.openxmlformats.org/presentationml/2006/main">
  <p:tag name="KSO_WM_DIAGRAM_VIRTUALLY_FRAME" val="{&quot;height&quot;:288.16,&quot;left&quot;:678.24,&quot;top&quot;:94.88,&quot;width&quot;:230.4}"/>
</p:tagLst>
</file>

<file path=ppt/tags/tag8.xml><?xml version="1.0" encoding="utf-8"?>
<p:tagLst xmlns:p="http://schemas.openxmlformats.org/presentationml/2006/main">
  <p:tag name="KSO_WM_DIAGRAM_VIRTUALLY_FRAME" val="{&quot;height&quot;:288.16,&quot;left&quot;:678.24,&quot;top&quot;:94.88,&quot;width&quot;:230.4}"/>
</p:tagLst>
</file>

<file path=ppt/tags/tag9.xml><?xml version="1.0" encoding="utf-8"?>
<p:tagLst xmlns:p="http://schemas.openxmlformats.org/presentationml/2006/main">
  <p:tag name="KSO_WM_DIAGRAM_VIRTUALLY_FRAME" val="{&quot;height&quot;:288.16,&quot;left&quot;:678.24,&quot;top&quot;:94.88,&quot;width&quot;:230.4}"/>
</p:tagLst>
</file>

<file path=ppt/tags/tag10.xml><?xml version="1.0" encoding="utf-8"?>
<p:tagLst xmlns:p="http://schemas.openxmlformats.org/presentationml/2006/main">
  <p:tag name="KSO_WM_DIAGRAM_VIRTUALLY_FRAME" val="{&quot;height&quot;:282.24,&quot;left&quot;:725.04,&quot;top&quot;:93.6,&quot;width&quot;:198}"/>
</p:tagLst>
</file>

<file path=ppt/tags/tag11.xml><?xml version="1.0" encoding="utf-8"?>
<p:tagLst xmlns:p="http://schemas.openxmlformats.org/presentationml/2006/main">
  <p:tag name="KSO_WM_DIAGRAM_VIRTUALLY_FRAME" val="{&quot;height&quot;:282.24,&quot;left&quot;:725.04,&quot;top&quot;:93.6,&quot;width&quot;:198}"/>
</p:tagLst>
</file>

<file path=ppt/tags/tag12.xml><?xml version="1.0" encoding="utf-8"?>
<p:tagLst xmlns:p="http://schemas.openxmlformats.org/presentationml/2006/main">
  <p:tag name="KSO_WM_DIAGRAM_VIRTUALLY_FRAME" val="{&quot;height&quot;:282.24,&quot;left&quot;:725.04,&quot;top&quot;:93.6,&quot;width&quot;:198}"/>
</p:tagLst>
</file>

<file path=ppt/tags/tag13.xml><?xml version="1.0" encoding="utf-8"?>
<p:tagLst xmlns:p="http://schemas.openxmlformats.org/presentationml/2006/main">
  <p:tag name="KSO_WM_DIAGRAM_VIRTUALLY_FRAME" val="{&quot;height&quot;:282.24,&quot;left&quot;:725.04,&quot;top&quot;:93.6,&quot;width&quot;:198}"/>
</p:tagLst>
</file>

<file path=ppt/tags/tag14.xml><?xml version="1.0" encoding="utf-8"?>
<p:tagLst xmlns:p="http://schemas.openxmlformats.org/presentationml/2006/main">
  <p:tag name="KSO_WM_DIAGRAM_VIRTUALLY_FRAME" val="{&quot;height&quot;:282.24,&quot;left&quot;:725.04,&quot;top&quot;:93.6,&quot;width&quot;:198}"/>
</p:tagLst>
</file>

<file path=ppt/tags/tag15.xml><?xml version="1.0" encoding="utf-8"?>
<p:tagLst xmlns:p="http://schemas.openxmlformats.org/presentationml/2006/main">
  <p:tag name="KSO_WM_DIAGRAM_VIRTUALLY_FRAME" val="{&quot;height&quot;:282.24,&quot;left&quot;:725.04,&quot;top&quot;:93.6,&quot;width&quot;:198}"/>
</p:tagLst>
</file>

<file path=ppt/tags/tag16.xml><?xml version="1.0" encoding="utf-8"?>
<p:tagLst xmlns:p="http://schemas.openxmlformats.org/presentationml/2006/main">
  <p:tag name="KSO_WM_DIAGRAM_VIRTUALLY_FRAME" val="{&quot;height&quot;:282.24,&quot;left&quot;:725.04,&quot;top&quot;:93.6,&quot;width&quot;:198}"/>
</p:tagLst>
</file>

<file path=ppt/tags/tag17.xml><?xml version="1.0" encoding="utf-8"?>
<p:tagLst xmlns:p="http://schemas.openxmlformats.org/presentationml/2006/main">
  <p:tag name="KSO_WM_DIAGRAM_VIRTUALLY_FRAME" val="{&quot;height&quot;:282.24,&quot;left&quot;:725.04,&quot;top&quot;:93.6,&quot;width&quot;:198}"/>
</p:tagLst>
</file>

<file path=ppt/tags/tag18.xml><?xml version="1.0" encoding="utf-8"?>
<p:tagLst xmlns:p="http://schemas.openxmlformats.org/presentationml/2006/main">
  <p:tag name="KSO_WM_DIAGRAM_VIRTUALLY_FRAME" val="{&quot;height&quot;:282.24,&quot;left&quot;:725.04,&quot;top&quot;:93.6,&quot;width&quot;:198}"/>
</p:tagLst>
</file>

<file path=ppt/tags/tag19.xml><?xml version="1.0" encoding="utf-8"?>
<p:tagLst xmlns:p="http://schemas.openxmlformats.org/presentationml/2006/main">
  <p:tag name="KSO_WM_DIAGRAM_VIRTUALLY_FRAME" val="{&quot;height&quot;:282.24,&quot;left&quot;:725.04,&quot;top&quot;:93.6,&quot;width&quot;:198}"/>
</p:tagLst>
</file>

<file path=ppt/tags/tag20.xml><?xml version="1.0" encoding="utf-8"?>
<p:tagLst xmlns:p="http://schemas.openxmlformats.org/presentationml/2006/main">
  <p:tag name="KSO_WM_DIAGRAM_VIRTUALLY_FRAME" val="{&quot;height&quot;:282.24,&quot;left&quot;:725.04,&quot;top&quot;:93.6,&quot;width&quot;:198}"/>
</p:tagLst>
</file>

<file path=ppt/tags/tag21.xml><?xml version="1.0" encoding="utf-8"?>
<p:tagLst xmlns:p="http://schemas.openxmlformats.org/presentationml/2006/main">
  <p:tag name="KSO_WM_DIAGRAM_VIRTUALLY_FRAME" val="{&quot;height&quot;:282.24,&quot;left&quot;:725.04,&quot;top&quot;:93.6,&quot;width&quot;:198}"/>
</p:tagLst>
</file>

<file path=ppt/tags/tag22.xml><?xml version="1.0" encoding="utf-8"?>
<p:tagLst xmlns:p="http://schemas.openxmlformats.org/presentationml/2006/main">
  <p:tag name="KSO_WM_DIAGRAM_VIRTUALLY_FRAME" val="{&quot;height&quot;:115.49000000000001,&quot;left&quot;:64.8,&quot;top&quot;:140.4,&quot;width&quot;:831.6}"/>
</p:tagLst>
</file>

<file path=ppt/tags/tag23.xml><?xml version="1.0" encoding="utf-8"?>
<p:tagLst xmlns:p="http://schemas.openxmlformats.org/presentationml/2006/main">
  <p:tag name="KSO_WM_DIAGRAM_VIRTUALLY_FRAME" val="{&quot;height&quot;:115.49000000000001,&quot;left&quot;:64.8,&quot;top&quot;:140.4,&quot;width&quot;:831.6}"/>
</p:tagLst>
</file>

<file path=ppt/tags/tag24.xml><?xml version="1.0" encoding="utf-8"?>
<p:tagLst xmlns:p="http://schemas.openxmlformats.org/presentationml/2006/main">
  <p:tag name="KSO_WM_DIAGRAM_VIRTUALLY_FRAME" val="{&quot;height&quot;:115.49000000000001,&quot;left&quot;:64.8,&quot;top&quot;:140.4,&quot;width&quot;:831.6}"/>
</p:tagLst>
</file>

<file path=ppt/tags/tag25.xml><?xml version="1.0" encoding="utf-8"?>
<p:tagLst xmlns:p="http://schemas.openxmlformats.org/presentationml/2006/main">
  <p:tag name="KSO_WM_DIAGRAM_VIRTUALLY_FRAME" val="{&quot;height&quot;:115.49000000000001,&quot;left&quot;:64.8,&quot;top&quot;:140.4,&quot;width&quot;:831.6}"/>
</p:tagLst>
</file>

<file path=ppt/tags/tag26.xml><?xml version="1.0" encoding="utf-8"?>
<p:tagLst xmlns:p="http://schemas.openxmlformats.org/presentationml/2006/main">
  <p:tag name="KSO_WM_DIAGRAM_VIRTUALLY_FRAME" val="{&quot;height&quot;:115.49000000000001,&quot;left&quot;:64.8,&quot;top&quot;:140.4,&quot;width&quot;:831.6}"/>
</p:tagLst>
</file>

<file path=ppt/tags/tag27.xml><?xml version="1.0" encoding="utf-8"?>
<p:tagLst xmlns:p="http://schemas.openxmlformats.org/presentationml/2006/main">
  <p:tag name="KSO_WM_DIAGRAM_VIRTUALLY_FRAME" val="{&quot;height&quot;:115.49000000000001,&quot;left&quot;:64.8,&quot;top&quot;:140.4,&quot;width&quot;:831.6}"/>
</p:tagLst>
</file>

<file path=ppt/tags/tag28.xml><?xml version="1.0" encoding="utf-8"?>
<p:tagLst xmlns:p="http://schemas.openxmlformats.org/presentationml/2006/main">
  <p:tag name="KSO_WM_DIAGRAM_VIRTUALLY_FRAME" val="{&quot;height&quot;:115.49000000000001,&quot;left&quot;:64.8,&quot;top&quot;:140.4,&quot;width&quot;:831.6}"/>
</p:tagLst>
</file>

<file path=ppt/tags/tag29.xml><?xml version="1.0" encoding="utf-8"?>
<p:tagLst xmlns:p="http://schemas.openxmlformats.org/presentationml/2006/main">
  <p:tag name="KSO_WM_DIAGRAM_VIRTUALLY_FRAME" val="{&quot;height&quot;:115.49000000000001,&quot;left&quot;:64.8,&quot;top&quot;:140.4,&quot;width&quot;:831.6}"/>
</p:tagLst>
</file>

<file path=ppt/tags/tag30.xml><?xml version="1.0" encoding="utf-8"?>
<p:tagLst xmlns:p="http://schemas.openxmlformats.org/presentationml/2006/main">
  <p:tag name="KSO_WM_DIAGRAM_VIRTUALLY_FRAME" val="{&quot;height&quot;:115.49000000000001,&quot;left&quot;:64.8,&quot;top&quot;:140.4,&quot;width&quot;:831.6}"/>
</p:tagLst>
</file>

<file path=ppt/tags/tag31.xml><?xml version="1.0" encoding="utf-8"?>
<p:tagLst xmlns:p="http://schemas.openxmlformats.org/presentationml/2006/main">
  <p:tag name="KSO_WM_DIAGRAM_VIRTUALLY_FRAME" val="{&quot;height&quot;:115.49000000000001,&quot;left&quot;:64.8,&quot;top&quot;:140.4,&quot;width&quot;:831.6}"/>
</p:tagLst>
</file>

<file path=ppt/tags/tag32.xml><?xml version="1.0" encoding="utf-8"?>
<p:tagLst xmlns:p="http://schemas.openxmlformats.org/presentationml/2006/main">
  <p:tag name="KSO_WM_DIAGRAM_VIRTUALLY_FRAME" val="{&quot;height&quot;:115.49000000000001,&quot;left&quot;:64.8,&quot;top&quot;:140.4,&quot;width&quot;:831.6}"/>
</p:tagLst>
</file>

<file path=ppt/tags/tag33.xml><?xml version="1.0" encoding="utf-8"?>
<p:tagLst xmlns:p="http://schemas.openxmlformats.org/presentationml/2006/main">
  <p:tag name="KSO_WM_DIAGRAM_VIRTUALLY_FRAME" val="{&quot;height&quot;:115.49000000000001,&quot;left&quot;:64.8,&quot;top&quot;:140.4,&quot;width&quot;:831.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2523</Words>
  <Application>WPS 演示</Application>
  <PresentationFormat>On-screen Show (16:9)</PresentationFormat>
  <Paragraphs>98</Paragraphs>
  <Slides>8</Slides>
  <Notes>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vt:i4>
      </vt:variant>
    </vt:vector>
  </HeadingPairs>
  <TitlesOfParts>
    <vt:vector size="25" baseType="lpstr">
      <vt:lpstr>Arial</vt:lpstr>
      <vt:lpstr>宋体</vt:lpstr>
      <vt:lpstr>Wingdings</vt:lpstr>
      <vt:lpstr>Aptos</vt:lpstr>
      <vt:lpstr>Segoe UI</vt:lpstr>
      <vt:lpstr>Aptos</vt:lpstr>
      <vt:lpstr>Aptos</vt:lpstr>
      <vt:lpstr>Aptos</vt:lpstr>
      <vt:lpstr>Aptos Display</vt:lpstr>
      <vt:lpstr>Segoe UI Variable Display</vt:lpstr>
      <vt:lpstr>Aptos Display</vt:lpstr>
      <vt:lpstr>Aptos Display</vt:lpstr>
      <vt:lpstr>Arial</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Sainsbury's vs Tesco Price Comparison</dc:title>
  <dc:creator>ChatGPT</dc:creator>
  <dc:subject>Sainsbury's vs Tesco Price Analysis</dc:subject>
  <cp:lastModifiedBy>徐芝生</cp:lastModifiedBy>
  <cp:revision>7</cp:revision>
  <dcterms:created xsi:type="dcterms:W3CDTF">2026-06-16T14:22:00Z</dcterms:created>
  <dcterms:modified xsi:type="dcterms:W3CDTF">2026-06-16T16:44:17Z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D36A02991742448EAF71273C6D2EA222_12</vt:lpwstr>
  </property>
</Properties>
</file>